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40" r:id="rId1"/>
    <p:sldMasterId id="2147483852" r:id="rId2"/>
  </p:sldMasterIdLst>
  <p:notesMasterIdLst>
    <p:notesMasterId r:id="rId15"/>
  </p:notesMasterIdLst>
  <p:sldIdLst>
    <p:sldId id="266" r:id="rId3"/>
    <p:sldId id="284" r:id="rId4"/>
    <p:sldId id="267" r:id="rId5"/>
    <p:sldId id="256" r:id="rId6"/>
    <p:sldId id="257" r:id="rId7"/>
    <p:sldId id="259" r:id="rId8"/>
    <p:sldId id="288" r:id="rId9"/>
    <p:sldId id="271" r:id="rId10"/>
    <p:sldId id="286" r:id="rId11"/>
    <p:sldId id="287" r:id="rId12"/>
    <p:sldId id="272" r:id="rId13"/>
    <p:sldId id="285" r:id="rId14"/>
  </p:sldIdLst>
  <p:sldSz cx="9144000" cy="6858000" type="screen4x3"/>
  <p:notesSz cx="6797675" cy="9926638"/>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90" autoAdjust="0"/>
    <p:restoredTop sz="93606" autoAdjust="0"/>
  </p:normalViewPr>
  <p:slideViewPr>
    <p:cSldViewPr>
      <p:cViewPr>
        <p:scale>
          <a:sx n="75" d="100"/>
          <a:sy n="75" d="100"/>
        </p:scale>
        <p:origin x="-1824" y="-33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56" d="100"/>
          <a:sy n="56" d="100"/>
        </p:scale>
        <p:origin x="-2838" y="-8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1" y="0"/>
            <a:ext cx="2945659" cy="496332"/>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50444" y="0"/>
            <a:ext cx="2945659" cy="496332"/>
          </a:xfrm>
          <a:prstGeom prst="rect">
            <a:avLst/>
          </a:prstGeom>
        </p:spPr>
        <p:txBody>
          <a:bodyPr vert="horz" lIns="91440" tIns="45720" rIns="91440" bIns="45720" rtlCol="0"/>
          <a:lstStyle>
            <a:lvl1pPr algn="r">
              <a:defRPr sz="1200"/>
            </a:lvl1pPr>
          </a:lstStyle>
          <a:p>
            <a:fld id="{48576074-B19B-41DE-AD7A-303A0A4636E9}" type="datetimeFigureOut">
              <a:rPr lang="tr-TR" smtClean="0"/>
              <a:t>30.09.2011</a:t>
            </a:fld>
            <a:endParaRPr lang="tr-TR"/>
          </a:p>
        </p:txBody>
      </p:sp>
      <p:sp>
        <p:nvSpPr>
          <p:cNvPr id="4" name="Slayt Görüntüsü Yer Tutucusu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79768" y="4715154"/>
            <a:ext cx="5438140" cy="4466987"/>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1" y="9428584"/>
            <a:ext cx="2945659" cy="496332"/>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50444" y="9428584"/>
            <a:ext cx="2945659" cy="496332"/>
          </a:xfrm>
          <a:prstGeom prst="rect">
            <a:avLst/>
          </a:prstGeom>
        </p:spPr>
        <p:txBody>
          <a:bodyPr vert="horz" lIns="91440" tIns="45720" rIns="91440" bIns="45720" rtlCol="0" anchor="b"/>
          <a:lstStyle>
            <a:lvl1pPr algn="r">
              <a:defRPr sz="1200"/>
            </a:lvl1pPr>
          </a:lstStyle>
          <a:p>
            <a:fld id="{88836F29-8442-4234-8323-A7FBE676E78A}" type="slidenum">
              <a:rPr lang="tr-TR" smtClean="0"/>
              <a:t>‹#›</a:t>
            </a:fld>
            <a:endParaRPr lang="tr-TR"/>
          </a:p>
        </p:txBody>
      </p:sp>
    </p:spTree>
    <p:extLst>
      <p:ext uri="{BB962C8B-B14F-4D97-AF65-F5344CB8AC3E}">
        <p14:creationId xmlns:p14="http://schemas.microsoft.com/office/powerpoint/2010/main" val="101295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88836F29-8442-4234-8323-A7FBE676E78A}" type="slidenum">
              <a:rPr lang="tr-TR" smtClean="0"/>
              <a:t>1</a:t>
            </a:fld>
            <a:endParaRPr lang="tr-TR"/>
          </a:p>
        </p:txBody>
      </p:sp>
    </p:spTree>
    <p:extLst>
      <p:ext uri="{BB962C8B-B14F-4D97-AF65-F5344CB8AC3E}">
        <p14:creationId xmlns:p14="http://schemas.microsoft.com/office/powerpoint/2010/main" val="1700915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917575" y="744538"/>
            <a:ext cx="4962525" cy="3722687"/>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88836F29-8442-4234-8323-A7FBE676E78A}" type="slidenum">
              <a:rPr lang="tr-TR" smtClean="0"/>
              <a:t>4</a:t>
            </a:fld>
            <a:endParaRPr lang="tr-TR"/>
          </a:p>
        </p:txBody>
      </p:sp>
    </p:spTree>
    <p:extLst>
      <p:ext uri="{BB962C8B-B14F-4D97-AF65-F5344CB8AC3E}">
        <p14:creationId xmlns:p14="http://schemas.microsoft.com/office/powerpoint/2010/main" val="3011391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E6D26058-2E11-499E-9E72-B4DF94772896}" type="slidenum">
              <a:rPr lang="de-DE" smtClean="0"/>
              <a:pPr eaLnBrk="1" hangingPunct="1"/>
              <a:t>12</a:t>
            </a:fld>
            <a:endParaRPr lang="de-DE" smtClean="0"/>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p:spPr>
        <p:txBody>
          <a:bodyPr/>
          <a:lstStyle/>
          <a:p>
            <a:pPr eaLnBrk="1" hangingPunct="1"/>
            <a:endParaRPr lang="en-GB"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61447" name="Rectangle 7"/>
          <p:cNvSpPr>
            <a:spLocks noGrp="1" noChangeArrowheads="1"/>
          </p:cNvSpPr>
          <p:nvPr>
            <p:ph type="ctrTitle"/>
          </p:nvPr>
        </p:nvSpPr>
        <p:spPr>
          <a:xfrm>
            <a:off x="1055077" y="2405068"/>
            <a:ext cx="6682154" cy="549275"/>
          </a:xfrm>
        </p:spPr>
        <p:txBody>
          <a:bodyPr/>
          <a:lstStyle>
            <a:lvl1pPr>
              <a:defRPr sz="3000" b="1"/>
            </a:lvl1pPr>
          </a:lstStyle>
          <a:p>
            <a:pPr lvl="0"/>
            <a:r>
              <a:rPr lang="tr-TR" noProof="0" smtClean="0"/>
              <a:t>Asıl başlık stili için tıklatın</a:t>
            </a:r>
            <a:endParaRPr lang="de-DE" noProof="0" smtClean="0"/>
          </a:p>
        </p:txBody>
      </p:sp>
      <p:sp>
        <p:nvSpPr>
          <p:cNvPr id="61443" name="Rectangle 3"/>
          <p:cNvSpPr>
            <a:spLocks noGrp="1" noChangeArrowheads="1"/>
          </p:cNvSpPr>
          <p:nvPr>
            <p:ph type="subTitle" idx="1"/>
          </p:nvPr>
        </p:nvSpPr>
        <p:spPr>
          <a:xfrm>
            <a:off x="1078523" y="2946400"/>
            <a:ext cx="4519246" cy="863600"/>
          </a:xfrm>
          <a:extLst>
            <a:ext uri="{91240B29-F687-4F45-9708-019B960494DF}">
              <a14:hiddenLine xmlns:a14="http://schemas.microsoft.com/office/drawing/2010/main" w="9525">
                <a:solidFill>
                  <a:srgbClr val="336D5C"/>
                </a:solidFill>
                <a:miter lim="800000"/>
                <a:headEnd/>
                <a:tailEnd/>
              </a14:hiddenLine>
            </a:ext>
          </a:extLst>
        </p:spPr>
        <p:txBody>
          <a:bodyPr/>
          <a:lstStyle>
            <a:lvl1pPr marL="0" indent="0">
              <a:buFontTx/>
              <a:buNone/>
              <a:defRPr/>
            </a:lvl1pPr>
          </a:lstStyle>
          <a:p>
            <a:pPr lvl="0"/>
            <a:r>
              <a:rPr lang="tr-TR" noProof="0" smtClean="0"/>
              <a:t>Asıl alt başlık stilini düzenlemek için tıklatın</a:t>
            </a:r>
            <a:endParaRPr lang="de-DE" noProof="0" smtClean="0"/>
          </a:p>
        </p:txBody>
      </p:sp>
      <p:pic>
        <p:nvPicPr>
          <p:cNvPr id="61516" name="Picture 76" descr="balke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475418"/>
            <a:ext cx="9144000" cy="382587"/>
          </a:xfrm>
          <a:prstGeom prst="rect">
            <a:avLst/>
          </a:prstGeom>
          <a:noFill/>
          <a:extLst>
            <a:ext uri="{909E8E84-426E-40DD-AFC4-6F175D3DCCD1}">
              <a14:hiddenFill xmlns:a14="http://schemas.microsoft.com/office/drawing/2010/main">
                <a:solidFill>
                  <a:srgbClr val="FFFFFF"/>
                </a:solidFill>
              </a14:hiddenFill>
            </a:ext>
          </a:extLst>
        </p:spPr>
      </p:pic>
      <p:pic>
        <p:nvPicPr>
          <p:cNvPr id="61519" name="Picture 79" descr="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6215" y="204788"/>
            <a:ext cx="1336431" cy="285750"/>
          </a:xfrm>
          <a:prstGeom prst="rect">
            <a:avLst/>
          </a:prstGeom>
          <a:noFill/>
          <a:extLst>
            <a:ext uri="{909E8E84-426E-40DD-AFC4-6F175D3DCCD1}">
              <a14:hiddenFill xmlns:a14="http://schemas.microsoft.com/office/drawing/2010/main">
                <a:solidFill>
                  <a:srgbClr val="FFFFFF"/>
                </a:solidFill>
              </a14:hiddenFill>
            </a:ext>
          </a:extLst>
        </p:spPr>
      </p:pic>
      <p:pic>
        <p:nvPicPr>
          <p:cNvPr id="61520" name="Picture 80" descr="streifen"/>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685800"/>
            <a:ext cx="9151327"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4894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en-US"/>
          </a:p>
        </p:txBody>
      </p:sp>
      <p:sp>
        <p:nvSpPr>
          <p:cNvPr id="3" name="İçerik Yer Tutucusu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Slayt Numarası Yer Tutucusu 3"/>
          <p:cNvSpPr>
            <a:spLocks noGrp="1"/>
          </p:cNvSpPr>
          <p:nvPr>
            <p:ph type="sldNum" sz="quarter" idx="10"/>
          </p:nvPr>
        </p:nvSpPr>
        <p:spPr/>
        <p:txBody>
          <a:bodyPr/>
          <a:lstStyle>
            <a:lvl1pPr>
              <a:defRPr/>
            </a:lvl1pPr>
          </a:lstStyle>
          <a:p>
            <a:fld id="{E357E547-A1EA-4E03-940C-A71AB0DBF836}" type="slidenum">
              <a:rPr lang="de-DE"/>
              <a:pPr/>
              <a:t>‹#›</a:t>
            </a:fld>
            <a:endParaRPr lang="de-DE"/>
          </a:p>
        </p:txBody>
      </p:sp>
    </p:spTree>
    <p:extLst>
      <p:ext uri="{BB962C8B-B14F-4D97-AF65-F5344CB8AC3E}">
        <p14:creationId xmlns:p14="http://schemas.microsoft.com/office/powerpoint/2010/main" val="2865790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435" y="4406903"/>
            <a:ext cx="7772400" cy="1323439"/>
          </a:xfrm>
        </p:spPr>
        <p:txBody>
          <a:bodyPr anchor="t"/>
          <a:lstStyle>
            <a:lvl1pPr algn="l">
              <a:defRPr sz="4000" b="1" cap="all"/>
            </a:lvl1pPr>
          </a:lstStyle>
          <a:p>
            <a:r>
              <a:rPr lang="tr-TR" smtClean="0"/>
              <a:t>Asıl başlık stili için tıklatın</a:t>
            </a:r>
            <a:endParaRPr lang="en-US"/>
          </a:p>
        </p:txBody>
      </p:sp>
      <p:sp>
        <p:nvSpPr>
          <p:cNvPr id="3" name="Metin Yer Tutucusu 2"/>
          <p:cNvSpPr>
            <a:spLocks noGrp="1"/>
          </p:cNvSpPr>
          <p:nvPr>
            <p:ph type="body" idx="1"/>
          </p:nvPr>
        </p:nvSpPr>
        <p:spPr>
          <a:xfrm>
            <a:off x="722435"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smtClean="0"/>
              <a:t>Asıl metin stillerini düzenlemek için tıklatın</a:t>
            </a:r>
          </a:p>
        </p:txBody>
      </p:sp>
      <p:sp>
        <p:nvSpPr>
          <p:cNvPr id="4" name="Slayt Numarası Yer Tutucusu 3"/>
          <p:cNvSpPr>
            <a:spLocks noGrp="1"/>
          </p:cNvSpPr>
          <p:nvPr>
            <p:ph type="sldNum" sz="quarter" idx="10"/>
          </p:nvPr>
        </p:nvSpPr>
        <p:spPr/>
        <p:txBody>
          <a:bodyPr/>
          <a:lstStyle>
            <a:lvl1pPr>
              <a:defRPr/>
            </a:lvl1pPr>
          </a:lstStyle>
          <a:p>
            <a:fld id="{47B66B0D-37F7-4388-A674-A97AFAC25476}" type="slidenum">
              <a:rPr lang="de-DE"/>
              <a:pPr/>
              <a:t>‹#›</a:t>
            </a:fld>
            <a:endParaRPr lang="de-DE"/>
          </a:p>
        </p:txBody>
      </p:sp>
    </p:spTree>
    <p:extLst>
      <p:ext uri="{BB962C8B-B14F-4D97-AF65-F5344CB8AC3E}">
        <p14:creationId xmlns:p14="http://schemas.microsoft.com/office/powerpoint/2010/main" val="430133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en-US"/>
          </a:p>
        </p:txBody>
      </p:sp>
      <p:sp>
        <p:nvSpPr>
          <p:cNvPr id="3" name="İçerik Yer Tutucusu 2"/>
          <p:cNvSpPr>
            <a:spLocks noGrp="1"/>
          </p:cNvSpPr>
          <p:nvPr>
            <p:ph sz="half" idx="1"/>
          </p:nvPr>
        </p:nvSpPr>
        <p:spPr>
          <a:xfrm>
            <a:off x="422033" y="914400"/>
            <a:ext cx="4149969"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İçerik Yer Tutucusu 3"/>
          <p:cNvSpPr>
            <a:spLocks noGrp="1"/>
          </p:cNvSpPr>
          <p:nvPr>
            <p:ph sz="half" idx="2"/>
          </p:nvPr>
        </p:nvSpPr>
        <p:spPr>
          <a:xfrm>
            <a:off x="4712679" y="914400"/>
            <a:ext cx="4149969"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Slayt Numarası Yer Tutucusu 4"/>
          <p:cNvSpPr>
            <a:spLocks noGrp="1"/>
          </p:cNvSpPr>
          <p:nvPr>
            <p:ph type="sldNum" sz="quarter" idx="10"/>
          </p:nvPr>
        </p:nvSpPr>
        <p:spPr/>
        <p:txBody>
          <a:bodyPr/>
          <a:lstStyle>
            <a:lvl1pPr>
              <a:defRPr/>
            </a:lvl1pPr>
          </a:lstStyle>
          <a:p>
            <a:fld id="{A1DD6606-1F79-434F-8E41-4CAE946D833C}" type="slidenum">
              <a:rPr lang="de-DE"/>
              <a:pPr/>
              <a:t>‹#›</a:t>
            </a:fld>
            <a:endParaRPr lang="de-DE"/>
          </a:p>
        </p:txBody>
      </p:sp>
    </p:spTree>
    <p:extLst>
      <p:ext uri="{BB962C8B-B14F-4D97-AF65-F5344CB8AC3E}">
        <p14:creationId xmlns:p14="http://schemas.microsoft.com/office/powerpoint/2010/main" val="1558275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457200" y="646083"/>
            <a:ext cx="8229600" cy="400110"/>
          </a:xfrm>
        </p:spPr>
        <p:txBody>
          <a:bodyPr/>
          <a:lstStyle>
            <a:lvl1pPr>
              <a:defRPr/>
            </a:lvl1pPr>
          </a:lstStyle>
          <a:p>
            <a:r>
              <a:rPr lang="tr-TR" smtClean="0"/>
              <a:t>Asıl başlık stili için tıklatın</a:t>
            </a:r>
            <a:endParaRPr lang="en-US"/>
          </a:p>
        </p:txBody>
      </p:sp>
      <p:sp>
        <p:nvSpPr>
          <p:cNvPr id="3" name="Metin Yer Tutucusu 2"/>
          <p:cNvSpPr>
            <a:spLocks noGrp="1"/>
          </p:cNvSpPr>
          <p:nvPr>
            <p:ph type="body" idx="1"/>
          </p:nvPr>
        </p:nvSpPr>
        <p:spPr>
          <a:xfrm>
            <a:off x="457200" y="1535113"/>
            <a:ext cx="404006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06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Metin Yer Tutucusu 4"/>
          <p:cNvSpPr>
            <a:spLocks noGrp="1"/>
          </p:cNvSpPr>
          <p:nvPr>
            <p:ph type="body" sz="quarter" idx="3"/>
          </p:nvPr>
        </p:nvSpPr>
        <p:spPr>
          <a:xfrm>
            <a:off x="4645272" y="1535113"/>
            <a:ext cx="40415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272" y="2174875"/>
            <a:ext cx="40415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7" name="Slayt Numarası Yer Tutucusu 6"/>
          <p:cNvSpPr>
            <a:spLocks noGrp="1"/>
          </p:cNvSpPr>
          <p:nvPr>
            <p:ph type="sldNum" sz="quarter" idx="10"/>
          </p:nvPr>
        </p:nvSpPr>
        <p:spPr/>
        <p:txBody>
          <a:bodyPr/>
          <a:lstStyle>
            <a:lvl1pPr>
              <a:defRPr/>
            </a:lvl1pPr>
          </a:lstStyle>
          <a:p>
            <a:fld id="{80934010-CD61-4741-92E8-FC6BA91B1598}" type="slidenum">
              <a:rPr lang="de-DE"/>
              <a:pPr/>
              <a:t>‹#›</a:t>
            </a:fld>
            <a:endParaRPr lang="de-DE"/>
          </a:p>
        </p:txBody>
      </p:sp>
    </p:spTree>
    <p:extLst>
      <p:ext uri="{BB962C8B-B14F-4D97-AF65-F5344CB8AC3E}">
        <p14:creationId xmlns:p14="http://schemas.microsoft.com/office/powerpoint/2010/main" val="143759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en-US"/>
          </a:p>
        </p:txBody>
      </p:sp>
      <p:sp>
        <p:nvSpPr>
          <p:cNvPr id="3" name="Slayt Numarası Yer Tutucusu 2"/>
          <p:cNvSpPr>
            <a:spLocks noGrp="1"/>
          </p:cNvSpPr>
          <p:nvPr>
            <p:ph type="sldNum" sz="quarter" idx="10"/>
          </p:nvPr>
        </p:nvSpPr>
        <p:spPr/>
        <p:txBody>
          <a:bodyPr/>
          <a:lstStyle>
            <a:lvl1pPr>
              <a:defRPr/>
            </a:lvl1pPr>
          </a:lstStyle>
          <a:p>
            <a:fld id="{EE2D904C-8DCD-43D7-A8F3-EC54D0513CE7}" type="slidenum">
              <a:rPr lang="de-DE"/>
              <a:pPr/>
              <a:t>‹#›</a:t>
            </a:fld>
            <a:endParaRPr lang="de-DE"/>
          </a:p>
        </p:txBody>
      </p:sp>
    </p:spTree>
    <p:extLst>
      <p:ext uri="{BB962C8B-B14F-4D97-AF65-F5344CB8AC3E}">
        <p14:creationId xmlns:p14="http://schemas.microsoft.com/office/powerpoint/2010/main" val="1963620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Slayt Numarası Yer Tutucusu 1"/>
          <p:cNvSpPr>
            <a:spLocks noGrp="1"/>
          </p:cNvSpPr>
          <p:nvPr>
            <p:ph type="sldNum" sz="quarter" idx="10"/>
          </p:nvPr>
        </p:nvSpPr>
        <p:spPr/>
        <p:txBody>
          <a:bodyPr/>
          <a:lstStyle>
            <a:lvl1pPr>
              <a:defRPr/>
            </a:lvl1pPr>
          </a:lstStyle>
          <a:p>
            <a:fld id="{326B0B22-A8FF-445B-B2CD-1C33F1B1DED3}" type="slidenum">
              <a:rPr lang="de-DE"/>
              <a:pPr/>
              <a:t>‹#›</a:t>
            </a:fld>
            <a:endParaRPr lang="de-DE"/>
          </a:p>
        </p:txBody>
      </p:sp>
    </p:spTree>
    <p:extLst>
      <p:ext uri="{BB962C8B-B14F-4D97-AF65-F5344CB8AC3E}">
        <p14:creationId xmlns:p14="http://schemas.microsoft.com/office/powerpoint/2010/main" val="2236322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727214"/>
            <a:ext cx="3008435" cy="707886"/>
          </a:xfrm>
        </p:spPr>
        <p:txBody>
          <a:bodyPr anchor="b"/>
          <a:lstStyle>
            <a:lvl1pPr algn="l">
              <a:defRPr sz="2000" b="1"/>
            </a:lvl1pPr>
          </a:lstStyle>
          <a:p>
            <a:r>
              <a:rPr lang="tr-TR" smtClean="0"/>
              <a:t>Asıl başlık stili için tıklatın</a:t>
            </a:r>
            <a:endParaRPr lang="en-US"/>
          </a:p>
        </p:txBody>
      </p:sp>
      <p:sp>
        <p:nvSpPr>
          <p:cNvPr id="3" name="İçerik Yer Tutucusu 2"/>
          <p:cNvSpPr>
            <a:spLocks noGrp="1"/>
          </p:cNvSpPr>
          <p:nvPr>
            <p:ph idx="1"/>
          </p:nvPr>
        </p:nvSpPr>
        <p:spPr>
          <a:xfrm>
            <a:off x="3575538" y="273052"/>
            <a:ext cx="511126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Metin Yer Tutucusu 3"/>
          <p:cNvSpPr>
            <a:spLocks noGrp="1"/>
          </p:cNvSpPr>
          <p:nvPr>
            <p:ph type="body" sz="half" idx="2"/>
          </p:nvPr>
        </p:nvSpPr>
        <p:spPr>
          <a:xfrm>
            <a:off x="457200" y="1435102"/>
            <a:ext cx="300843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Slayt Numarası Yer Tutucusu 4"/>
          <p:cNvSpPr>
            <a:spLocks noGrp="1"/>
          </p:cNvSpPr>
          <p:nvPr>
            <p:ph type="sldNum" sz="quarter" idx="10"/>
          </p:nvPr>
        </p:nvSpPr>
        <p:spPr/>
        <p:txBody>
          <a:bodyPr/>
          <a:lstStyle>
            <a:lvl1pPr>
              <a:defRPr/>
            </a:lvl1pPr>
          </a:lstStyle>
          <a:p>
            <a:fld id="{07ADE31F-DCB9-41F9-A9C0-5FD3AF6C0578}" type="slidenum">
              <a:rPr lang="de-DE"/>
              <a:pPr/>
              <a:t>‹#›</a:t>
            </a:fld>
            <a:endParaRPr lang="de-DE"/>
          </a:p>
        </p:txBody>
      </p:sp>
    </p:spTree>
    <p:extLst>
      <p:ext uri="{BB962C8B-B14F-4D97-AF65-F5344CB8AC3E}">
        <p14:creationId xmlns:p14="http://schemas.microsoft.com/office/powerpoint/2010/main" val="2886343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166" y="4967228"/>
            <a:ext cx="5486400" cy="400110"/>
          </a:xfrm>
        </p:spPr>
        <p:txBody>
          <a:bodyPr anchor="b"/>
          <a:lstStyle>
            <a:lvl1pPr algn="l">
              <a:defRPr sz="2000" b="1"/>
            </a:lvl1pPr>
          </a:lstStyle>
          <a:p>
            <a:r>
              <a:rPr lang="tr-TR" smtClean="0"/>
              <a:t>Asıl başlık stili için tıklatın</a:t>
            </a:r>
            <a:endParaRPr lang="en-US"/>
          </a:p>
        </p:txBody>
      </p:sp>
      <p:sp>
        <p:nvSpPr>
          <p:cNvPr id="3" name="Resim Yer Tutucusu 2"/>
          <p:cNvSpPr>
            <a:spLocks noGrp="1"/>
          </p:cNvSpPr>
          <p:nvPr>
            <p:ph type="pic" idx="1"/>
          </p:nvPr>
        </p:nvSpPr>
        <p:spPr>
          <a:xfrm>
            <a:off x="1792166"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a:p>
        </p:txBody>
      </p:sp>
      <p:sp>
        <p:nvSpPr>
          <p:cNvPr id="4" name="Metin Yer Tutucusu 3"/>
          <p:cNvSpPr>
            <a:spLocks noGrp="1"/>
          </p:cNvSpPr>
          <p:nvPr>
            <p:ph type="body" sz="half" idx="2"/>
          </p:nvPr>
        </p:nvSpPr>
        <p:spPr>
          <a:xfrm>
            <a:off x="1792166"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Slayt Numarası Yer Tutucusu 4"/>
          <p:cNvSpPr>
            <a:spLocks noGrp="1"/>
          </p:cNvSpPr>
          <p:nvPr>
            <p:ph type="sldNum" sz="quarter" idx="10"/>
          </p:nvPr>
        </p:nvSpPr>
        <p:spPr/>
        <p:txBody>
          <a:bodyPr/>
          <a:lstStyle>
            <a:lvl1pPr>
              <a:defRPr/>
            </a:lvl1pPr>
          </a:lstStyle>
          <a:p>
            <a:fld id="{C938F368-B89E-47D1-B96B-EF97B56E37CA}" type="slidenum">
              <a:rPr lang="de-DE"/>
              <a:pPr/>
              <a:t>‹#›</a:t>
            </a:fld>
            <a:endParaRPr lang="de-DE"/>
          </a:p>
        </p:txBody>
      </p:sp>
    </p:spTree>
    <p:extLst>
      <p:ext uri="{BB962C8B-B14F-4D97-AF65-F5344CB8AC3E}">
        <p14:creationId xmlns:p14="http://schemas.microsoft.com/office/powerpoint/2010/main" val="3851736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en-US"/>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Slayt Numarası Yer Tutucusu 3"/>
          <p:cNvSpPr>
            <a:spLocks noGrp="1"/>
          </p:cNvSpPr>
          <p:nvPr>
            <p:ph type="sldNum" sz="quarter" idx="10"/>
          </p:nvPr>
        </p:nvSpPr>
        <p:spPr/>
        <p:txBody>
          <a:bodyPr/>
          <a:lstStyle>
            <a:lvl1pPr>
              <a:defRPr/>
            </a:lvl1pPr>
          </a:lstStyle>
          <a:p>
            <a:fld id="{5D6867C6-D26E-4CB9-A3B1-E1AB2B123F19}" type="slidenum">
              <a:rPr lang="de-DE"/>
              <a:pPr/>
              <a:t>‹#›</a:t>
            </a:fld>
            <a:endParaRPr lang="de-DE"/>
          </a:p>
        </p:txBody>
      </p:sp>
    </p:spTree>
    <p:extLst>
      <p:ext uri="{BB962C8B-B14F-4D97-AF65-F5344CB8AC3E}">
        <p14:creationId xmlns:p14="http://schemas.microsoft.com/office/powerpoint/2010/main" val="3721480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7561351" y="212728"/>
            <a:ext cx="492443" cy="5959475"/>
          </a:xfrm>
        </p:spPr>
        <p:txBody>
          <a:bodyPr vert="eaVert"/>
          <a:lstStyle/>
          <a:p>
            <a:r>
              <a:rPr lang="tr-TR" smtClean="0"/>
              <a:t>Asıl başlık stili için tıklatın</a:t>
            </a:r>
            <a:endParaRPr lang="en-US"/>
          </a:p>
        </p:txBody>
      </p:sp>
      <p:sp>
        <p:nvSpPr>
          <p:cNvPr id="3" name="Dikey Metin Yer Tutucusu 2"/>
          <p:cNvSpPr>
            <a:spLocks noGrp="1"/>
          </p:cNvSpPr>
          <p:nvPr>
            <p:ph type="body" orient="vert" idx="1"/>
          </p:nvPr>
        </p:nvSpPr>
        <p:spPr>
          <a:xfrm>
            <a:off x="422032" y="212728"/>
            <a:ext cx="6189785" cy="595947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Slayt Numarası Yer Tutucusu 3"/>
          <p:cNvSpPr>
            <a:spLocks noGrp="1"/>
          </p:cNvSpPr>
          <p:nvPr>
            <p:ph type="sldNum" sz="quarter" idx="10"/>
          </p:nvPr>
        </p:nvSpPr>
        <p:spPr/>
        <p:txBody>
          <a:bodyPr/>
          <a:lstStyle>
            <a:lvl1pPr>
              <a:defRPr/>
            </a:lvl1pPr>
          </a:lstStyle>
          <a:p>
            <a:fld id="{87DBDFDA-0CDC-4016-8846-77798F8D821F}" type="slidenum">
              <a:rPr lang="de-DE"/>
              <a:pPr/>
              <a:t>‹#›</a:t>
            </a:fld>
            <a:endParaRPr lang="de-DE"/>
          </a:p>
        </p:txBody>
      </p:sp>
    </p:spTree>
    <p:extLst>
      <p:ext uri="{BB962C8B-B14F-4D97-AF65-F5344CB8AC3E}">
        <p14:creationId xmlns:p14="http://schemas.microsoft.com/office/powerpoint/2010/main" val="20962790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61447" name="Rectangle 7"/>
          <p:cNvSpPr>
            <a:spLocks noGrp="1" noChangeArrowheads="1"/>
          </p:cNvSpPr>
          <p:nvPr>
            <p:ph type="ctrTitle"/>
          </p:nvPr>
        </p:nvSpPr>
        <p:spPr>
          <a:xfrm>
            <a:off x="1055077" y="2405064"/>
            <a:ext cx="6682154" cy="549275"/>
          </a:xfrm>
        </p:spPr>
        <p:txBody>
          <a:bodyPr/>
          <a:lstStyle>
            <a:lvl1pPr>
              <a:defRPr sz="3000" b="1"/>
            </a:lvl1pPr>
          </a:lstStyle>
          <a:p>
            <a:pPr lvl="0"/>
            <a:r>
              <a:rPr lang="tr-TR" noProof="0" smtClean="0"/>
              <a:t>Asıl başlık stili için tıklatın</a:t>
            </a:r>
            <a:endParaRPr lang="de-DE" noProof="0" smtClean="0"/>
          </a:p>
        </p:txBody>
      </p:sp>
      <p:sp>
        <p:nvSpPr>
          <p:cNvPr id="61443" name="Rectangle 3"/>
          <p:cNvSpPr>
            <a:spLocks noGrp="1" noChangeArrowheads="1"/>
          </p:cNvSpPr>
          <p:nvPr>
            <p:ph type="subTitle" idx="1"/>
          </p:nvPr>
        </p:nvSpPr>
        <p:spPr>
          <a:xfrm>
            <a:off x="1078523" y="2946400"/>
            <a:ext cx="4519246" cy="863600"/>
          </a:xfrm>
          <a:extLst>
            <a:ext uri="{91240B29-F687-4F45-9708-019B960494DF}">
              <a14:hiddenLine xmlns:a14="http://schemas.microsoft.com/office/drawing/2010/main" w="9525">
                <a:solidFill>
                  <a:srgbClr val="336D5C"/>
                </a:solidFill>
                <a:miter lim="800000"/>
                <a:headEnd/>
                <a:tailEnd/>
              </a14:hiddenLine>
            </a:ext>
          </a:extLst>
        </p:spPr>
        <p:txBody>
          <a:bodyPr/>
          <a:lstStyle>
            <a:lvl1pPr marL="0" indent="0">
              <a:buFontTx/>
              <a:buNone/>
              <a:defRPr/>
            </a:lvl1pPr>
          </a:lstStyle>
          <a:p>
            <a:pPr lvl="0"/>
            <a:r>
              <a:rPr lang="tr-TR" noProof="0" smtClean="0"/>
              <a:t>Asıl alt başlık stilini düzenlemek için tıklatın</a:t>
            </a:r>
            <a:endParaRPr lang="de-DE" noProof="0" smtClean="0"/>
          </a:p>
        </p:txBody>
      </p:sp>
      <p:pic>
        <p:nvPicPr>
          <p:cNvPr id="61516" name="Picture 76" descr="balke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475414"/>
            <a:ext cx="9144000" cy="382587"/>
          </a:xfrm>
          <a:prstGeom prst="rect">
            <a:avLst/>
          </a:prstGeom>
          <a:noFill/>
          <a:extLst>
            <a:ext uri="{909E8E84-426E-40DD-AFC4-6F175D3DCCD1}">
              <a14:hiddenFill xmlns:a14="http://schemas.microsoft.com/office/drawing/2010/main">
                <a:solidFill>
                  <a:srgbClr val="FFFFFF"/>
                </a:solidFill>
              </a14:hiddenFill>
            </a:ext>
          </a:extLst>
        </p:spPr>
      </p:pic>
      <p:pic>
        <p:nvPicPr>
          <p:cNvPr id="61519" name="Picture 79" descr="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6215" y="204788"/>
            <a:ext cx="1336431" cy="285750"/>
          </a:xfrm>
          <a:prstGeom prst="rect">
            <a:avLst/>
          </a:prstGeom>
          <a:noFill/>
          <a:extLst>
            <a:ext uri="{909E8E84-426E-40DD-AFC4-6F175D3DCCD1}">
              <a14:hiddenFill xmlns:a14="http://schemas.microsoft.com/office/drawing/2010/main">
                <a:solidFill>
                  <a:srgbClr val="FFFFFF"/>
                </a:solidFill>
              </a14:hiddenFill>
            </a:ext>
          </a:extLst>
        </p:spPr>
      </p:pic>
      <p:pic>
        <p:nvPicPr>
          <p:cNvPr id="61520" name="Picture 80" descr="streifen"/>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685800"/>
            <a:ext cx="9151327"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86793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en-US"/>
          </a:p>
        </p:txBody>
      </p:sp>
      <p:sp>
        <p:nvSpPr>
          <p:cNvPr id="3" name="İçerik Yer Tutucusu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Slayt Numarası Yer Tutucusu 3"/>
          <p:cNvSpPr>
            <a:spLocks noGrp="1"/>
          </p:cNvSpPr>
          <p:nvPr>
            <p:ph type="sldNum" sz="quarter" idx="10"/>
          </p:nvPr>
        </p:nvSpPr>
        <p:spPr/>
        <p:txBody>
          <a:bodyPr/>
          <a:lstStyle>
            <a:lvl1pPr>
              <a:defRPr/>
            </a:lvl1pPr>
          </a:lstStyle>
          <a:p>
            <a:fld id="{E357E547-A1EA-4E03-940C-A71AB0DBF836}" type="slidenum">
              <a:rPr lang="de-DE"/>
              <a:pPr/>
              <a:t>‹#›</a:t>
            </a:fld>
            <a:endParaRPr lang="de-DE"/>
          </a:p>
        </p:txBody>
      </p:sp>
    </p:spTree>
    <p:extLst>
      <p:ext uri="{BB962C8B-B14F-4D97-AF65-F5344CB8AC3E}">
        <p14:creationId xmlns:p14="http://schemas.microsoft.com/office/powerpoint/2010/main" val="18612733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435" y="4406901"/>
            <a:ext cx="7772400" cy="1362075"/>
          </a:xfrm>
        </p:spPr>
        <p:txBody>
          <a:bodyPr anchor="t"/>
          <a:lstStyle>
            <a:lvl1pPr algn="l">
              <a:defRPr sz="4000" b="1" cap="all"/>
            </a:lvl1pPr>
          </a:lstStyle>
          <a:p>
            <a:r>
              <a:rPr lang="tr-TR" smtClean="0"/>
              <a:t>Asıl başlık stili için tıklatın</a:t>
            </a:r>
            <a:endParaRPr lang="en-US"/>
          </a:p>
        </p:txBody>
      </p:sp>
      <p:sp>
        <p:nvSpPr>
          <p:cNvPr id="3" name="Metin Yer Tutucusu 2"/>
          <p:cNvSpPr>
            <a:spLocks noGrp="1"/>
          </p:cNvSpPr>
          <p:nvPr>
            <p:ph type="body" idx="1"/>
          </p:nvPr>
        </p:nvSpPr>
        <p:spPr>
          <a:xfrm>
            <a:off x="722435"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smtClean="0"/>
              <a:t>Asıl metin stillerini düzenlemek için tıklatın</a:t>
            </a:r>
          </a:p>
        </p:txBody>
      </p:sp>
      <p:sp>
        <p:nvSpPr>
          <p:cNvPr id="4" name="Slayt Numarası Yer Tutucusu 3"/>
          <p:cNvSpPr>
            <a:spLocks noGrp="1"/>
          </p:cNvSpPr>
          <p:nvPr>
            <p:ph type="sldNum" sz="quarter" idx="10"/>
          </p:nvPr>
        </p:nvSpPr>
        <p:spPr/>
        <p:txBody>
          <a:bodyPr/>
          <a:lstStyle>
            <a:lvl1pPr>
              <a:defRPr/>
            </a:lvl1pPr>
          </a:lstStyle>
          <a:p>
            <a:fld id="{47B66B0D-37F7-4388-A674-A97AFAC25476}" type="slidenum">
              <a:rPr lang="de-DE"/>
              <a:pPr/>
              <a:t>‹#›</a:t>
            </a:fld>
            <a:endParaRPr lang="de-DE"/>
          </a:p>
        </p:txBody>
      </p:sp>
    </p:spTree>
    <p:extLst>
      <p:ext uri="{BB962C8B-B14F-4D97-AF65-F5344CB8AC3E}">
        <p14:creationId xmlns:p14="http://schemas.microsoft.com/office/powerpoint/2010/main" val="10558614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en-US"/>
          </a:p>
        </p:txBody>
      </p:sp>
      <p:sp>
        <p:nvSpPr>
          <p:cNvPr id="3" name="İçerik Yer Tutucusu 2"/>
          <p:cNvSpPr>
            <a:spLocks noGrp="1"/>
          </p:cNvSpPr>
          <p:nvPr>
            <p:ph sz="half" idx="1"/>
          </p:nvPr>
        </p:nvSpPr>
        <p:spPr>
          <a:xfrm>
            <a:off x="422031" y="914400"/>
            <a:ext cx="4149969"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İçerik Yer Tutucusu 3"/>
          <p:cNvSpPr>
            <a:spLocks noGrp="1"/>
          </p:cNvSpPr>
          <p:nvPr>
            <p:ph sz="half" idx="2"/>
          </p:nvPr>
        </p:nvSpPr>
        <p:spPr>
          <a:xfrm>
            <a:off x="4712677" y="914400"/>
            <a:ext cx="4149969"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Slayt Numarası Yer Tutucusu 4"/>
          <p:cNvSpPr>
            <a:spLocks noGrp="1"/>
          </p:cNvSpPr>
          <p:nvPr>
            <p:ph type="sldNum" sz="quarter" idx="10"/>
          </p:nvPr>
        </p:nvSpPr>
        <p:spPr/>
        <p:txBody>
          <a:bodyPr/>
          <a:lstStyle>
            <a:lvl1pPr>
              <a:defRPr/>
            </a:lvl1pPr>
          </a:lstStyle>
          <a:p>
            <a:fld id="{A1DD6606-1F79-434F-8E41-4CAE946D833C}" type="slidenum">
              <a:rPr lang="de-DE"/>
              <a:pPr/>
              <a:t>‹#›</a:t>
            </a:fld>
            <a:endParaRPr lang="de-DE"/>
          </a:p>
        </p:txBody>
      </p:sp>
    </p:spTree>
    <p:extLst>
      <p:ext uri="{BB962C8B-B14F-4D97-AF65-F5344CB8AC3E}">
        <p14:creationId xmlns:p14="http://schemas.microsoft.com/office/powerpoint/2010/main" val="28909767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457200" y="646083"/>
            <a:ext cx="8229600" cy="400110"/>
          </a:xfrm>
        </p:spPr>
        <p:txBody>
          <a:bodyPr/>
          <a:lstStyle>
            <a:lvl1pPr>
              <a:defRPr/>
            </a:lvl1pPr>
          </a:lstStyle>
          <a:p>
            <a:r>
              <a:rPr lang="tr-TR" smtClean="0"/>
              <a:t>Asıl başlık stili için tıklatın</a:t>
            </a:r>
            <a:endParaRPr lang="en-US"/>
          </a:p>
        </p:txBody>
      </p:sp>
      <p:sp>
        <p:nvSpPr>
          <p:cNvPr id="3" name="Metin Yer Tutucusu 2"/>
          <p:cNvSpPr>
            <a:spLocks noGrp="1"/>
          </p:cNvSpPr>
          <p:nvPr>
            <p:ph type="body" idx="1"/>
          </p:nvPr>
        </p:nvSpPr>
        <p:spPr>
          <a:xfrm>
            <a:off x="457200" y="1535113"/>
            <a:ext cx="404006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06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Metin Yer Tutucusu 4"/>
          <p:cNvSpPr>
            <a:spLocks noGrp="1"/>
          </p:cNvSpPr>
          <p:nvPr>
            <p:ph type="body" sz="quarter" idx="3"/>
          </p:nvPr>
        </p:nvSpPr>
        <p:spPr>
          <a:xfrm>
            <a:off x="4645270" y="1535113"/>
            <a:ext cx="40415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270" y="2174875"/>
            <a:ext cx="40415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7" name="Slayt Numarası Yer Tutucusu 6"/>
          <p:cNvSpPr>
            <a:spLocks noGrp="1"/>
          </p:cNvSpPr>
          <p:nvPr>
            <p:ph type="sldNum" sz="quarter" idx="10"/>
          </p:nvPr>
        </p:nvSpPr>
        <p:spPr/>
        <p:txBody>
          <a:bodyPr/>
          <a:lstStyle>
            <a:lvl1pPr>
              <a:defRPr/>
            </a:lvl1pPr>
          </a:lstStyle>
          <a:p>
            <a:fld id="{80934010-CD61-4741-92E8-FC6BA91B1598}" type="slidenum">
              <a:rPr lang="de-DE"/>
              <a:pPr/>
              <a:t>‹#›</a:t>
            </a:fld>
            <a:endParaRPr lang="de-DE"/>
          </a:p>
        </p:txBody>
      </p:sp>
    </p:spTree>
    <p:extLst>
      <p:ext uri="{BB962C8B-B14F-4D97-AF65-F5344CB8AC3E}">
        <p14:creationId xmlns:p14="http://schemas.microsoft.com/office/powerpoint/2010/main" val="4032169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en-US"/>
          </a:p>
        </p:txBody>
      </p:sp>
      <p:sp>
        <p:nvSpPr>
          <p:cNvPr id="3" name="Slayt Numarası Yer Tutucusu 2"/>
          <p:cNvSpPr>
            <a:spLocks noGrp="1"/>
          </p:cNvSpPr>
          <p:nvPr>
            <p:ph type="sldNum" sz="quarter" idx="10"/>
          </p:nvPr>
        </p:nvSpPr>
        <p:spPr/>
        <p:txBody>
          <a:bodyPr/>
          <a:lstStyle>
            <a:lvl1pPr>
              <a:defRPr/>
            </a:lvl1pPr>
          </a:lstStyle>
          <a:p>
            <a:fld id="{EE2D904C-8DCD-43D7-A8F3-EC54D0513CE7}" type="slidenum">
              <a:rPr lang="de-DE"/>
              <a:pPr/>
              <a:t>‹#›</a:t>
            </a:fld>
            <a:endParaRPr lang="de-DE"/>
          </a:p>
        </p:txBody>
      </p:sp>
    </p:spTree>
    <p:extLst>
      <p:ext uri="{BB962C8B-B14F-4D97-AF65-F5344CB8AC3E}">
        <p14:creationId xmlns:p14="http://schemas.microsoft.com/office/powerpoint/2010/main" val="5855076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Slayt Numarası Yer Tutucusu 1"/>
          <p:cNvSpPr>
            <a:spLocks noGrp="1"/>
          </p:cNvSpPr>
          <p:nvPr>
            <p:ph type="sldNum" sz="quarter" idx="10"/>
          </p:nvPr>
        </p:nvSpPr>
        <p:spPr/>
        <p:txBody>
          <a:bodyPr/>
          <a:lstStyle>
            <a:lvl1pPr>
              <a:defRPr/>
            </a:lvl1pPr>
          </a:lstStyle>
          <a:p>
            <a:fld id="{326B0B22-A8FF-445B-B2CD-1C33F1B1DED3}" type="slidenum">
              <a:rPr lang="de-DE"/>
              <a:pPr/>
              <a:t>‹#›</a:t>
            </a:fld>
            <a:endParaRPr lang="de-DE"/>
          </a:p>
        </p:txBody>
      </p:sp>
    </p:spTree>
    <p:extLst>
      <p:ext uri="{BB962C8B-B14F-4D97-AF65-F5344CB8AC3E}">
        <p14:creationId xmlns:p14="http://schemas.microsoft.com/office/powerpoint/2010/main" val="37107123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727214"/>
            <a:ext cx="3008435" cy="707886"/>
          </a:xfrm>
        </p:spPr>
        <p:txBody>
          <a:bodyPr anchor="b"/>
          <a:lstStyle>
            <a:lvl1pPr algn="l">
              <a:defRPr sz="2000" b="1"/>
            </a:lvl1pPr>
          </a:lstStyle>
          <a:p>
            <a:r>
              <a:rPr lang="tr-TR" smtClean="0"/>
              <a:t>Asıl başlık stili için tıklatın</a:t>
            </a:r>
            <a:endParaRPr lang="en-US"/>
          </a:p>
        </p:txBody>
      </p:sp>
      <p:sp>
        <p:nvSpPr>
          <p:cNvPr id="3" name="İçerik Yer Tutucusu 2"/>
          <p:cNvSpPr>
            <a:spLocks noGrp="1"/>
          </p:cNvSpPr>
          <p:nvPr>
            <p:ph idx="1"/>
          </p:nvPr>
        </p:nvSpPr>
        <p:spPr>
          <a:xfrm>
            <a:off x="3575538" y="273051"/>
            <a:ext cx="511126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Metin Yer Tutucusu 3"/>
          <p:cNvSpPr>
            <a:spLocks noGrp="1"/>
          </p:cNvSpPr>
          <p:nvPr>
            <p:ph type="body" sz="half" idx="2"/>
          </p:nvPr>
        </p:nvSpPr>
        <p:spPr>
          <a:xfrm>
            <a:off x="457200" y="1435101"/>
            <a:ext cx="300843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Slayt Numarası Yer Tutucusu 4"/>
          <p:cNvSpPr>
            <a:spLocks noGrp="1"/>
          </p:cNvSpPr>
          <p:nvPr>
            <p:ph type="sldNum" sz="quarter" idx="10"/>
          </p:nvPr>
        </p:nvSpPr>
        <p:spPr/>
        <p:txBody>
          <a:bodyPr/>
          <a:lstStyle>
            <a:lvl1pPr>
              <a:defRPr/>
            </a:lvl1pPr>
          </a:lstStyle>
          <a:p>
            <a:fld id="{07ADE31F-DCB9-41F9-A9C0-5FD3AF6C0578}" type="slidenum">
              <a:rPr lang="de-DE"/>
              <a:pPr/>
              <a:t>‹#›</a:t>
            </a:fld>
            <a:endParaRPr lang="de-DE"/>
          </a:p>
        </p:txBody>
      </p:sp>
    </p:spTree>
    <p:extLst>
      <p:ext uri="{BB962C8B-B14F-4D97-AF65-F5344CB8AC3E}">
        <p14:creationId xmlns:p14="http://schemas.microsoft.com/office/powerpoint/2010/main" val="39367399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166" y="4967228"/>
            <a:ext cx="5486400" cy="400110"/>
          </a:xfrm>
        </p:spPr>
        <p:txBody>
          <a:bodyPr anchor="b"/>
          <a:lstStyle>
            <a:lvl1pPr algn="l">
              <a:defRPr sz="2000" b="1"/>
            </a:lvl1pPr>
          </a:lstStyle>
          <a:p>
            <a:r>
              <a:rPr lang="tr-TR" smtClean="0"/>
              <a:t>Asıl başlık stili için tıklatın</a:t>
            </a:r>
            <a:endParaRPr lang="en-US"/>
          </a:p>
        </p:txBody>
      </p:sp>
      <p:sp>
        <p:nvSpPr>
          <p:cNvPr id="3" name="Resim Yer Tutucusu 2"/>
          <p:cNvSpPr>
            <a:spLocks noGrp="1"/>
          </p:cNvSpPr>
          <p:nvPr>
            <p:ph type="pic" idx="1"/>
          </p:nvPr>
        </p:nvSpPr>
        <p:spPr>
          <a:xfrm>
            <a:off x="1792166"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a:p>
        </p:txBody>
      </p:sp>
      <p:sp>
        <p:nvSpPr>
          <p:cNvPr id="4" name="Metin Yer Tutucusu 3"/>
          <p:cNvSpPr>
            <a:spLocks noGrp="1"/>
          </p:cNvSpPr>
          <p:nvPr>
            <p:ph type="body" sz="half" idx="2"/>
          </p:nvPr>
        </p:nvSpPr>
        <p:spPr>
          <a:xfrm>
            <a:off x="1792166"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Slayt Numarası Yer Tutucusu 4"/>
          <p:cNvSpPr>
            <a:spLocks noGrp="1"/>
          </p:cNvSpPr>
          <p:nvPr>
            <p:ph type="sldNum" sz="quarter" idx="10"/>
          </p:nvPr>
        </p:nvSpPr>
        <p:spPr/>
        <p:txBody>
          <a:bodyPr/>
          <a:lstStyle>
            <a:lvl1pPr>
              <a:defRPr/>
            </a:lvl1pPr>
          </a:lstStyle>
          <a:p>
            <a:fld id="{C938F368-B89E-47D1-B96B-EF97B56E37CA}" type="slidenum">
              <a:rPr lang="de-DE"/>
              <a:pPr/>
              <a:t>‹#›</a:t>
            </a:fld>
            <a:endParaRPr lang="de-DE"/>
          </a:p>
        </p:txBody>
      </p:sp>
    </p:spTree>
    <p:extLst>
      <p:ext uri="{BB962C8B-B14F-4D97-AF65-F5344CB8AC3E}">
        <p14:creationId xmlns:p14="http://schemas.microsoft.com/office/powerpoint/2010/main" val="28499032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en-US"/>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Slayt Numarası Yer Tutucusu 3"/>
          <p:cNvSpPr>
            <a:spLocks noGrp="1"/>
          </p:cNvSpPr>
          <p:nvPr>
            <p:ph type="sldNum" sz="quarter" idx="10"/>
          </p:nvPr>
        </p:nvSpPr>
        <p:spPr/>
        <p:txBody>
          <a:bodyPr/>
          <a:lstStyle>
            <a:lvl1pPr>
              <a:defRPr/>
            </a:lvl1pPr>
          </a:lstStyle>
          <a:p>
            <a:fld id="{5D6867C6-D26E-4CB9-A3B1-E1AB2B123F19}" type="slidenum">
              <a:rPr lang="de-DE"/>
              <a:pPr/>
              <a:t>‹#›</a:t>
            </a:fld>
            <a:endParaRPr lang="de-DE"/>
          </a:p>
        </p:txBody>
      </p:sp>
    </p:spTree>
    <p:extLst>
      <p:ext uri="{BB962C8B-B14F-4D97-AF65-F5344CB8AC3E}">
        <p14:creationId xmlns:p14="http://schemas.microsoft.com/office/powerpoint/2010/main" val="34264674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7561348" y="212726"/>
            <a:ext cx="492443" cy="5959475"/>
          </a:xfrm>
        </p:spPr>
        <p:txBody>
          <a:bodyPr vert="eaVert"/>
          <a:lstStyle/>
          <a:p>
            <a:r>
              <a:rPr lang="tr-TR" smtClean="0"/>
              <a:t>Asıl başlık stili için tıklatın</a:t>
            </a:r>
            <a:endParaRPr lang="en-US"/>
          </a:p>
        </p:txBody>
      </p:sp>
      <p:sp>
        <p:nvSpPr>
          <p:cNvPr id="3" name="Dikey Metin Yer Tutucusu 2"/>
          <p:cNvSpPr>
            <a:spLocks noGrp="1"/>
          </p:cNvSpPr>
          <p:nvPr>
            <p:ph type="body" orient="vert" idx="1"/>
          </p:nvPr>
        </p:nvSpPr>
        <p:spPr>
          <a:xfrm>
            <a:off x="422031" y="212726"/>
            <a:ext cx="6189785" cy="595947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Slayt Numarası Yer Tutucusu 3"/>
          <p:cNvSpPr>
            <a:spLocks noGrp="1"/>
          </p:cNvSpPr>
          <p:nvPr>
            <p:ph type="sldNum" sz="quarter" idx="10"/>
          </p:nvPr>
        </p:nvSpPr>
        <p:spPr/>
        <p:txBody>
          <a:bodyPr/>
          <a:lstStyle>
            <a:lvl1pPr>
              <a:defRPr/>
            </a:lvl1pPr>
          </a:lstStyle>
          <a:p>
            <a:fld id="{87DBDFDA-0CDC-4016-8846-77798F8D821F}" type="slidenum">
              <a:rPr lang="de-DE"/>
              <a:pPr/>
              <a:t>‹#›</a:t>
            </a:fld>
            <a:endParaRPr lang="de-DE"/>
          </a:p>
        </p:txBody>
      </p:sp>
    </p:spTree>
    <p:extLst>
      <p:ext uri="{BB962C8B-B14F-4D97-AF65-F5344CB8AC3E}">
        <p14:creationId xmlns:p14="http://schemas.microsoft.com/office/powerpoint/2010/main" val="1762566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39" name="Rectangle 15"/>
          <p:cNvSpPr>
            <a:spLocks noGrp="1" noChangeArrowheads="1"/>
          </p:cNvSpPr>
          <p:nvPr>
            <p:ph type="title"/>
          </p:nvPr>
        </p:nvSpPr>
        <p:spPr bwMode="auto">
          <a:xfrm>
            <a:off x="432289" y="212726"/>
            <a:ext cx="6491654"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de-DE" smtClean="0"/>
              <a:t>Mastertitelformat bearbeiten</a:t>
            </a:r>
          </a:p>
        </p:txBody>
      </p:sp>
      <p:sp>
        <p:nvSpPr>
          <p:cNvPr id="1050" name="Rectangle 26"/>
          <p:cNvSpPr>
            <a:spLocks noGrp="1" noChangeArrowheads="1"/>
          </p:cNvSpPr>
          <p:nvPr>
            <p:ph type="body" idx="1"/>
          </p:nvPr>
        </p:nvSpPr>
        <p:spPr bwMode="auto">
          <a:xfrm>
            <a:off x="422033" y="914400"/>
            <a:ext cx="8440615"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smtClean="0"/>
              <a:t>Mastertextformat bearbeiten</a:t>
            </a:r>
          </a:p>
          <a:p>
            <a:pPr lvl="1"/>
            <a:r>
              <a:rPr lang="de-DE" smtClean="0"/>
              <a:t>Zweite Ebene</a:t>
            </a:r>
          </a:p>
          <a:p>
            <a:pPr lvl="2"/>
            <a:r>
              <a:rPr lang="de-DE" smtClean="0"/>
              <a:t>Dritte Ebene</a:t>
            </a:r>
          </a:p>
          <a:p>
            <a:pPr lvl="3"/>
            <a:r>
              <a:rPr lang="de-DE" smtClean="0"/>
              <a:t>Vierte Ebene</a:t>
            </a:r>
          </a:p>
          <a:p>
            <a:pPr lvl="4"/>
            <a:r>
              <a:rPr lang="de-DE" smtClean="0"/>
              <a:t>Fünfte Ebene</a:t>
            </a:r>
          </a:p>
        </p:txBody>
      </p:sp>
      <p:pic>
        <p:nvPicPr>
          <p:cNvPr id="1055" name="Picture 31" descr="balken"/>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6475418"/>
            <a:ext cx="9144000" cy="382587"/>
          </a:xfrm>
          <a:prstGeom prst="rect">
            <a:avLst/>
          </a:prstGeom>
          <a:noFill/>
          <a:extLst>
            <a:ext uri="{909E8E84-426E-40DD-AFC4-6F175D3DCCD1}">
              <a14:hiddenFill xmlns:a14="http://schemas.microsoft.com/office/drawing/2010/main">
                <a:solidFill>
                  <a:srgbClr val="FFFFFF"/>
                </a:solidFill>
              </a14:hiddenFill>
            </a:ext>
          </a:extLst>
        </p:spPr>
      </p:pic>
      <p:sp>
        <p:nvSpPr>
          <p:cNvPr id="1042" name="Rectangle 18"/>
          <p:cNvSpPr>
            <a:spLocks noGrp="1" noChangeArrowheads="1"/>
          </p:cNvSpPr>
          <p:nvPr>
            <p:ph type="sldNum" sz="quarter" idx="4"/>
          </p:nvPr>
        </p:nvSpPr>
        <p:spPr bwMode="auto">
          <a:xfrm>
            <a:off x="7671289" y="6254750"/>
            <a:ext cx="1261696"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900">
                <a:solidFill>
                  <a:srgbClr val="005943"/>
                </a:solidFill>
              </a:defRPr>
            </a:lvl1pPr>
          </a:lstStyle>
          <a:p>
            <a:pPr fontAlgn="base">
              <a:spcBef>
                <a:spcPct val="0"/>
              </a:spcBef>
              <a:spcAft>
                <a:spcPct val="0"/>
              </a:spcAft>
            </a:pPr>
            <a:fld id="{81B16C41-2BD9-4ADB-B459-EBB728C0184B}" type="slidenum">
              <a:rPr lang="de-DE" smtClean="0"/>
              <a:pPr fontAlgn="base">
                <a:spcBef>
                  <a:spcPct val="0"/>
                </a:spcBef>
                <a:spcAft>
                  <a:spcPct val="0"/>
                </a:spcAft>
              </a:pPr>
              <a:t>‹#›</a:t>
            </a:fld>
            <a:endParaRPr lang="de-DE" smtClean="0"/>
          </a:p>
        </p:txBody>
      </p:sp>
      <p:pic>
        <p:nvPicPr>
          <p:cNvPr id="1066" name="Picture 42" descr="logo"/>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526215" y="204788"/>
            <a:ext cx="1336431" cy="285750"/>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44" descr="streifen"/>
          <p:cNvPicPr>
            <a:picLocks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0" y="685800"/>
            <a:ext cx="9151327" cy="12700"/>
          </a:xfrm>
          <a:prstGeom prst="rect">
            <a:avLst/>
          </a:prstGeom>
          <a:noFill/>
          <a:extLst>
            <a:ext uri="{909E8E84-426E-40DD-AFC4-6F175D3DCCD1}">
              <a14:hiddenFill xmlns:a14="http://schemas.microsoft.com/office/drawing/2010/main">
                <a:solidFill>
                  <a:srgbClr val="FFFFFF"/>
                </a:solidFill>
              </a14:hiddenFill>
            </a:ext>
          </a:extLst>
        </p:spPr>
      </p:pic>
      <p:sp>
        <p:nvSpPr>
          <p:cNvPr id="1069" name="Text Box 45"/>
          <p:cNvSpPr txBox="1">
            <a:spLocks noChangeArrowheads="1"/>
          </p:cNvSpPr>
          <p:nvPr/>
        </p:nvSpPr>
        <p:spPr bwMode="auto">
          <a:xfrm>
            <a:off x="3575539" y="6610355"/>
            <a:ext cx="1992923"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fontAlgn="base">
              <a:spcBef>
                <a:spcPct val="50000"/>
              </a:spcBef>
              <a:spcAft>
                <a:spcPct val="0"/>
              </a:spcAft>
            </a:pPr>
            <a:r>
              <a:rPr lang="de-DE" sz="600" smtClean="0">
                <a:solidFill>
                  <a:srgbClr val="FFFFFF"/>
                </a:solidFill>
              </a:rPr>
              <a:t>© Copyright ENERCON GmbH. </a:t>
            </a:r>
            <a:r>
              <a:rPr lang="en-GB" sz="600" smtClean="0">
                <a:solidFill>
                  <a:srgbClr val="FFFFFF"/>
                </a:solidFill>
              </a:rPr>
              <a:t>All rights reserved</a:t>
            </a:r>
            <a:r>
              <a:rPr lang="de-DE" sz="600" smtClean="0">
                <a:solidFill>
                  <a:srgbClr val="FFFFFF"/>
                </a:solidFill>
              </a:rPr>
              <a:t>.</a:t>
            </a:r>
          </a:p>
        </p:txBody>
      </p:sp>
      <p:sp>
        <p:nvSpPr>
          <p:cNvPr id="1070" name="Text Box 46"/>
          <p:cNvSpPr txBox="1">
            <a:spLocks noChangeArrowheads="1"/>
          </p:cNvSpPr>
          <p:nvPr/>
        </p:nvSpPr>
        <p:spPr bwMode="auto">
          <a:xfrm>
            <a:off x="451338" y="6607180"/>
            <a:ext cx="1992923"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50000"/>
              </a:spcBef>
              <a:spcAft>
                <a:spcPct val="0"/>
              </a:spcAft>
            </a:pPr>
            <a:r>
              <a:rPr lang="en-GB" sz="600" smtClean="0">
                <a:solidFill>
                  <a:srgbClr val="FFFFFF"/>
                </a:solidFill>
              </a:rPr>
              <a:t>Filename:</a:t>
            </a:r>
          </a:p>
        </p:txBody>
      </p:sp>
    </p:spTree>
    <p:extLst>
      <p:ext uri="{BB962C8B-B14F-4D97-AF65-F5344CB8AC3E}">
        <p14:creationId xmlns:p14="http://schemas.microsoft.com/office/powerpoint/2010/main" val="4175907814"/>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hdr="0" dt="0"/>
  <p:txStyles>
    <p:titleStyle>
      <a:lvl1pPr algn="l" rtl="0" eaLnBrk="1" fontAlgn="base" hangingPunct="1">
        <a:spcBef>
          <a:spcPct val="0"/>
        </a:spcBef>
        <a:spcAft>
          <a:spcPct val="0"/>
        </a:spcAft>
        <a:defRPr sz="2000">
          <a:solidFill>
            <a:srgbClr val="005943"/>
          </a:solidFill>
          <a:latin typeface="+mj-lt"/>
          <a:ea typeface="+mj-ea"/>
          <a:cs typeface="+mj-cs"/>
        </a:defRPr>
      </a:lvl1pPr>
      <a:lvl2pPr algn="l" rtl="0" eaLnBrk="1" fontAlgn="base" hangingPunct="1">
        <a:spcBef>
          <a:spcPct val="0"/>
        </a:spcBef>
        <a:spcAft>
          <a:spcPct val="0"/>
        </a:spcAft>
        <a:defRPr sz="2000">
          <a:solidFill>
            <a:srgbClr val="005943"/>
          </a:solidFill>
          <a:latin typeface="Arial" charset="0"/>
        </a:defRPr>
      </a:lvl2pPr>
      <a:lvl3pPr algn="l" rtl="0" eaLnBrk="1" fontAlgn="base" hangingPunct="1">
        <a:spcBef>
          <a:spcPct val="0"/>
        </a:spcBef>
        <a:spcAft>
          <a:spcPct val="0"/>
        </a:spcAft>
        <a:defRPr sz="2000">
          <a:solidFill>
            <a:srgbClr val="005943"/>
          </a:solidFill>
          <a:latin typeface="Arial" charset="0"/>
        </a:defRPr>
      </a:lvl3pPr>
      <a:lvl4pPr algn="l" rtl="0" eaLnBrk="1" fontAlgn="base" hangingPunct="1">
        <a:spcBef>
          <a:spcPct val="0"/>
        </a:spcBef>
        <a:spcAft>
          <a:spcPct val="0"/>
        </a:spcAft>
        <a:defRPr sz="2000">
          <a:solidFill>
            <a:srgbClr val="005943"/>
          </a:solidFill>
          <a:latin typeface="Arial" charset="0"/>
        </a:defRPr>
      </a:lvl4pPr>
      <a:lvl5pPr algn="l" rtl="0" eaLnBrk="1" fontAlgn="base" hangingPunct="1">
        <a:spcBef>
          <a:spcPct val="0"/>
        </a:spcBef>
        <a:spcAft>
          <a:spcPct val="0"/>
        </a:spcAft>
        <a:defRPr sz="2000">
          <a:solidFill>
            <a:srgbClr val="005943"/>
          </a:solidFill>
          <a:latin typeface="Arial" charset="0"/>
        </a:defRPr>
      </a:lvl5pPr>
      <a:lvl6pPr marL="457200" algn="l" rtl="0" eaLnBrk="1" fontAlgn="base" hangingPunct="1">
        <a:spcBef>
          <a:spcPct val="0"/>
        </a:spcBef>
        <a:spcAft>
          <a:spcPct val="0"/>
        </a:spcAft>
        <a:defRPr sz="2000">
          <a:solidFill>
            <a:srgbClr val="005943"/>
          </a:solidFill>
          <a:latin typeface="Arial" charset="0"/>
        </a:defRPr>
      </a:lvl6pPr>
      <a:lvl7pPr marL="914400" algn="l" rtl="0" eaLnBrk="1" fontAlgn="base" hangingPunct="1">
        <a:spcBef>
          <a:spcPct val="0"/>
        </a:spcBef>
        <a:spcAft>
          <a:spcPct val="0"/>
        </a:spcAft>
        <a:defRPr sz="2000">
          <a:solidFill>
            <a:srgbClr val="005943"/>
          </a:solidFill>
          <a:latin typeface="Arial" charset="0"/>
        </a:defRPr>
      </a:lvl7pPr>
      <a:lvl8pPr marL="1371600" algn="l" rtl="0" eaLnBrk="1" fontAlgn="base" hangingPunct="1">
        <a:spcBef>
          <a:spcPct val="0"/>
        </a:spcBef>
        <a:spcAft>
          <a:spcPct val="0"/>
        </a:spcAft>
        <a:defRPr sz="2000">
          <a:solidFill>
            <a:srgbClr val="005943"/>
          </a:solidFill>
          <a:latin typeface="Arial" charset="0"/>
        </a:defRPr>
      </a:lvl8pPr>
      <a:lvl9pPr marL="1828800" algn="l" rtl="0" eaLnBrk="1" fontAlgn="base" hangingPunct="1">
        <a:spcBef>
          <a:spcPct val="0"/>
        </a:spcBef>
        <a:spcAft>
          <a:spcPct val="0"/>
        </a:spcAft>
        <a:defRPr sz="2000">
          <a:solidFill>
            <a:srgbClr val="005943"/>
          </a:solidFill>
          <a:latin typeface="Arial" charset="0"/>
        </a:defRPr>
      </a:lvl9pPr>
    </p:titleStyle>
    <p:bodyStyle>
      <a:lvl1pPr marL="342900" indent="-342900" algn="l" rtl="0" eaLnBrk="1" fontAlgn="base" hangingPunct="1">
        <a:spcBef>
          <a:spcPct val="20000"/>
        </a:spcBef>
        <a:spcAft>
          <a:spcPct val="0"/>
        </a:spcAft>
        <a:buChar char="•"/>
        <a:defRPr sz="1600">
          <a:solidFill>
            <a:schemeClr val="tx1"/>
          </a:solidFill>
          <a:latin typeface="+mn-lt"/>
          <a:ea typeface="+mn-ea"/>
          <a:cs typeface="+mn-cs"/>
        </a:defRPr>
      </a:lvl1pPr>
      <a:lvl2pPr marL="742950" indent="-285750" algn="l" rtl="0" eaLnBrk="1" fontAlgn="base" hangingPunct="1">
        <a:lnSpc>
          <a:spcPct val="130000"/>
        </a:lnSpc>
        <a:spcBef>
          <a:spcPct val="20000"/>
        </a:spcBef>
        <a:spcAft>
          <a:spcPct val="0"/>
        </a:spcAft>
        <a:buChar char="–"/>
        <a:defRPr sz="1600">
          <a:solidFill>
            <a:schemeClr val="tx1"/>
          </a:solidFill>
          <a:latin typeface="+mn-lt"/>
        </a:defRPr>
      </a:lvl2pPr>
      <a:lvl3pPr marL="1143000" indent="-228600" algn="l" rtl="0" eaLnBrk="1" fontAlgn="base" hangingPunct="1">
        <a:spcBef>
          <a:spcPct val="20000"/>
        </a:spcBef>
        <a:spcAft>
          <a:spcPct val="0"/>
        </a:spcAft>
        <a:buChar char="•"/>
        <a:defRPr sz="16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Grp="1" noChangeArrowheads="1"/>
          </p:cNvSpPr>
          <p:nvPr>
            <p:ph type="title"/>
          </p:nvPr>
        </p:nvSpPr>
        <p:spPr bwMode="auto">
          <a:xfrm>
            <a:off x="432289" y="212726"/>
            <a:ext cx="6491654"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de-DE" smtClean="0"/>
              <a:t>Mastertitelformat bearbeiten</a:t>
            </a:r>
          </a:p>
        </p:txBody>
      </p:sp>
      <p:sp>
        <p:nvSpPr>
          <p:cNvPr id="1050" name="Rectangle 26"/>
          <p:cNvSpPr>
            <a:spLocks noGrp="1" noChangeArrowheads="1"/>
          </p:cNvSpPr>
          <p:nvPr>
            <p:ph type="body" idx="1"/>
          </p:nvPr>
        </p:nvSpPr>
        <p:spPr bwMode="auto">
          <a:xfrm>
            <a:off x="422031" y="914400"/>
            <a:ext cx="8440615"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smtClean="0"/>
              <a:t>Mastertextformat bearbeiten</a:t>
            </a:r>
          </a:p>
          <a:p>
            <a:pPr lvl="1"/>
            <a:r>
              <a:rPr lang="de-DE" smtClean="0"/>
              <a:t>Zweite Ebene</a:t>
            </a:r>
          </a:p>
          <a:p>
            <a:pPr lvl="2"/>
            <a:r>
              <a:rPr lang="de-DE" smtClean="0"/>
              <a:t>Dritte Ebene</a:t>
            </a:r>
          </a:p>
          <a:p>
            <a:pPr lvl="3"/>
            <a:r>
              <a:rPr lang="de-DE" smtClean="0"/>
              <a:t>Vierte Ebene</a:t>
            </a:r>
          </a:p>
          <a:p>
            <a:pPr lvl="4"/>
            <a:r>
              <a:rPr lang="de-DE" smtClean="0"/>
              <a:t>Fünfte Ebene</a:t>
            </a:r>
          </a:p>
        </p:txBody>
      </p:sp>
      <p:pic>
        <p:nvPicPr>
          <p:cNvPr id="1055" name="Picture 31" descr="balken"/>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6475414"/>
            <a:ext cx="9144000" cy="382587"/>
          </a:xfrm>
          <a:prstGeom prst="rect">
            <a:avLst/>
          </a:prstGeom>
          <a:noFill/>
          <a:extLst>
            <a:ext uri="{909E8E84-426E-40DD-AFC4-6F175D3DCCD1}">
              <a14:hiddenFill xmlns:a14="http://schemas.microsoft.com/office/drawing/2010/main">
                <a:solidFill>
                  <a:srgbClr val="FFFFFF"/>
                </a:solidFill>
              </a14:hiddenFill>
            </a:ext>
          </a:extLst>
        </p:spPr>
      </p:pic>
      <p:sp>
        <p:nvSpPr>
          <p:cNvPr id="1042" name="Rectangle 18"/>
          <p:cNvSpPr>
            <a:spLocks noGrp="1" noChangeArrowheads="1"/>
          </p:cNvSpPr>
          <p:nvPr>
            <p:ph type="sldNum" sz="quarter" idx="4"/>
          </p:nvPr>
        </p:nvSpPr>
        <p:spPr bwMode="auto">
          <a:xfrm>
            <a:off x="7671289" y="6254750"/>
            <a:ext cx="1261696"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900">
                <a:solidFill>
                  <a:srgbClr val="005943"/>
                </a:solidFill>
              </a:defRPr>
            </a:lvl1pPr>
          </a:lstStyle>
          <a:p>
            <a:pPr fontAlgn="base">
              <a:spcBef>
                <a:spcPct val="0"/>
              </a:spcBef>
              <a:spcAft>
                <a:spcPct val="0"/>
              </a:spcAft>
            </a:pPr>
            <a:fld id="{81B16C41-2BD9-4ADB-B459-EBB728C0184B}" type="slidenum">
              <a:rPr lang="de-DE" smtClean="0"/>
              <a:pPr fontAlgn="base">
                <a:spcBef>
                  <a:spcPct val="0"/>
                </a:spcBef>
                <a:spcAft>
                  <a:spcPct val="0"/>
                </a:spcAft>
              </a:pPr>
              <a:t>‹#›</a:t>
            </a:fld>
            <a:endParaRPr lang="de-DE" smtClean="0"/>
          </a:p>
        </p:txBody>
      </p:sp>
      <p:pic>
        <p:nvPicPr>
          <p:cNvPr id="1066" name="Picture 42" descr="logo"/>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526215" y="204788"/>
            <a:ext cx="1336431" cy="285750"/>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44" descr="streifen"/>
          <p:cNvPicPr>
            <a:picLocks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0" y="685800"/>
            <a:ext cx="9151327" cy="12700"/>
          </a:xfrm>
          <a:prstGeom prst="rect">
            <a:avLst/>
          </a:prstGeom>
          <a:noFill/>
          <a:extLst>
            <a:ext uri="{909E8E84-426E-40DD-AFC4-6F175D3DCCD1}">
              <a14:hiddenFill xmlns:a14="http://schemas.microsoft.com/office/drawing/2010/main">
                <a:solidFill>
                  <a:srgbClr val="FFFFFF"/>
                </a:solidFill>
              </a14:hiddenFill>
            </a:ext>
          </a:extLst>
        </p:spPr>
      </p:pic>
      <p:sp>
        <p:nvSpPr>
          <p:cNvPr id="1069" name="Text Box 45"/>
          <p:cNvSpPr txBox="1">
            <a:spLocks noChangeArrowheads="1"/>
          </p:cNvSpPr>
          <p:nvPr/>
        </p:nvSpPr>
        <p:spPr bwMode="auto">
          <a:xfrm>
            <a:off x="3575539" y="6610351"/>
            <a:ext cx="1992923"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fontAlgn="base">
              <a:spcBef>
                <a:spcPct val="50000"/>
              </a:spcBef>
              <a:spcAft>
                <a:spcPct val="0"/>
              </a:spcAft>
            </a:pPr>
            <a:r>
              <a:rPr lang="de-DE" sz="600" smtClean="0">
                <a:solidFill>
                  <a:srgbClr val="FFFFFF"/>
                </a:solidFill>
              </a:rPr>
              <a:t>© Copyright ENERCON GmbH. </a:t>
            </a:r>
            <a:r>
              <a:rPr lang="en-GB" sz="600" smtClean="0">
                <a:solidFill>
                  <a:srgbClr val="FFFFFF"/>
                </a:solidFill>
              </a:rPr>
              <a:t>All rights reserved</a:t>
            </a:r>
            <a:r>
              <a:rPr lang="de-DE" sz="600" smtClean="0">
                <a:solidFill>
                  <a:srgbClr val="FFFFFF"/>
                </a:solidFill>
              </a:rPr>
              <a:t>.</a:t>
            </a:r>
          </a:p>
        </p:txBody>
      </p:sp>
      <p:sp>
        <p:nvSpPr>
          <p:cNvPr id="1070" name="Text Box 46"/>
          <p:cNvSpPr txBox="1">
            <a:spLocks noChangeArrowheads="1"/>
          </p:cNvSpPr>
          <p:nvPr/>
        </p:nvSpPr>
        <p:spPr bwMode="auto">
          <a:xfrm>
            <a:off x="451338" y="6607176"/>
            <a:ext cx="1992923"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50000"/>
              </a:spcBef>
              <a:spcAft>
                <a:spcPct val="0"/>
              </a:spcAft>
            </a:pPr>
            <a:r>
              <a:rPr lang="en-GB" sz="600" smtClean="0">
                <a:solidFill>
                  <a:srgbClr val="FFFFFF"/>
                </a:solidFill>
              </a:rPr>
              <a:t>Filename:</a:t>
            </a:r>
          </a:p>
        </p:txBody>
      </p:sp>
    </p:spTree>
    <p:extLst>
      <p:ext uri="{BB962C8B-B14F-4D97-AF65-F5344CB8AC3E}">
        <p14:creationId xmlns:p14="http://schemas.microsoft.com/office/powerpoint/2010/main" val="833314203"/>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hdr="0" dt="0"/>
  <p:txStyles>
    <p:titleStyle>
      <a:lvl1pPr algn="l" rtl="0" eaLnBrk="1" fontAlgn="base" hangingPunct="1">
        <a:spcBef>
          <a:spcPct val="0"/>
        </a:spcBef>
        <a:spcAft>
          <a:spcPct val="0"/>
        </a:spcAft>
        <a:defRPr sz="2000">
          <a:solidFill>
            <a:srgbClr val="005943"/>
          </a:solidFill>
          <a:latin typeface="+mj-lt"/>
          <a:ea typeface="+mj-ea"/>
          <a:cs typeface="+mj-cs"/>
        </a:defRPr>
      </a:lvl1pPr>
      <a:lvl2pPr algn="l" rtl="0" eaLnBrk="1" fontAlgn="base" hangingPunct="1">
        <a:spcBef>
          <a:spcPct val="0"/>
        </a:spcBef>
        <a:spcAft>
          <a:spcPct val="0"/>
        </a:spcAft>
        <a:defRPr sz="2000">
          <a:solidFill>
            <a:srgbClr val="005943"/>
          </a:solidFill>
          <a:latin typeface="Arial" charset="0"/>
        </a:defRPr>
      </a:lvl2pPr>
      <a:lvl3pPr algn="l" rtl="0" eaLnBrk="1" fontAlgn="base" hangingPunct="1">
        <a:spcBef>
          <a:spcPct val="0"/>
        </a:spcBef>
        <a:spcAft>
          <a:spcPct val="0"/>
        </a:spcAft>
        <a:defRPr sz="2000">
          <a:solidFill>
            <a:srgbClr val="005943"/>
          </a:solidFill>
          <a:latin typeface="Arial" charset="0"/>
        </a:defRPr>
      </a:lvl3pPr>
      <a:lvl4pPr algn="l" rtl="0" eaLnBrk="1" fontAlgn="base" hangingPunct="1">
        <a:spcBef>
          <a:spcPct val="0"/>
        </a:spcBef>
        <a:spcAft>
          <a:spcPct val="0"/>
        </a:spcAft>
        <a:defRPr sz="2000">
          <a:solidFill>
            <a:srgbClr val="005943"/>
          </a:solidFill>
          <a:latin typeface="Arial" charset="0"/>
        </a:defRPr>
      </a:lvl4pPr>
      <a:lvl5pPr algn="l" rtl="0" eaLnBrk="1" fontAlgn="base" hangingPunct="1">
        <a:spcBef>
          <a:spcPct val="0"/>
        </a:spcBef>
        <a:spcAft>
          <a:spcPct val="0"/>
        </a:spcAft>
        <a:defRPr sz="2000">
          <a:solidFill>
            <a:srgbClr val="005943"/>
          </a:solidFill>
          <a:latin typeface="Arial" charset="0"/>
        </a:defRPr>
      </a:lvl5pPr>
      <a:lvl6pPr marL="457200" algn="l" rtl="0" eaLnBrk="1" fontAlgn="base" hangingPunct="1">
        <a:spcBef>
          <a:spcPct val="0"/>
        </a:spcBef>
        <a:spcAft>
          <a:spcPct val="0"/>
        </a:spcAft>
        <a:defRPr sz="2000">
          <a:solidFill>
            <a:srgbClr val="005943"/>
          </a:solidFill>
          <a:latin typeface="Arial" charset="0"/>
        </a:defRPr>
      </a:lvl6pPr>
      <a:lvl7pPr marL="914400" algn="l" rtl="0" eaLnBrk="1" fontAlgn="base" hangingPunct="1">
        <a:spcBef>
          <a:spcPct val="0"/>
        </a:spcBef>
        <a:spcAft>
          <a:spcPct val="0"/>
        </a:spcAft>
        <a:defRPr sz="2000">
          <a:solidFill>
            <a:srgbClr val="005943"/>
          </a:solidFill>
          <a:latin typeface="Arial" charset="0"/>
        </a:defRPr>
      </a:lvl7pPr>
      <a:lvl8pPr marL="1371600" algn="l" rtl="0" eaLnBrk="1" fontAlgn="base" hangingPunct="1">
        <a:spcBef>
          <a:spcPct val="0"/>
        </a:spcBef>
        <a:spcAft>
          <a:spcPct val="0"/>
        </a:spcAft>
        <a:defRPr sz="2000">
          <a:solidFill>
            <a:srgbClr val="005943"/>
          </a:solidFill>
          <a:latin typeface="Arial" charset="0"/>
        </a:defRPr>
      </a:lvl8pPr>
      <a:lvl9pPr marL="1828800" algn="l" rtl="0" eaLnBrk="1" fontAlgn="base" hangingPunct="1">
        <a:spcBef>
          <a:spcPct val="0"/>
        </a:spcBef>
        <a:spcAft>
          <a:spcPct val="0"/>
        </a:spcAft>
        <a:defRPr sz="2000">
          <a:solidFill>
            <a:srgbClr val="005943"/>
          </a:solidFill>
          <a:latin typeface="Arial" charset="0"/>
        </a:defRPr>
      </a:lvl9pPr>
    </p:titleStyle>
    <p:bodyStyle>
      <a:lvl1pPr marL="342900" indent="-342900" algn="l" rtl="0" eaLnBrk="1" fontAlgn="base" hangingPunct="1">
        <a:spcBef>
          <a:spcPct val="20000"/>
        </a:spcBef>
        <a:spcAft>
          <a:spcPct val="0"/>
        </a:spcAft>
        <a:buChar char="•"/>
        <a:defRPr sz="1600">
          <a:solidFill>
            <a:schemeClr val="tx1"/>
          </a:solidFill>
          <a:latin typeface="+mn-lt"/>
          <a:ea typeface="+mn-ea"/>
          <a:cs typeface="+mn-cs"/>
        </a:defRPr>
      </a:lvl1pPr>
      <a:lvl2pPr marL="742950" indent="-285750" algn="l" rtl="0" eaLnBrk="1" fontAlgn="base" hangingPunct="1">
        <a:lnSpc>
          <a:spcPct val="130000"/>
        </a:lnSpc>
        <a:spcBef>
          <a:spcPct val="20000"/>
        </a:spcBef>
        <a:spcAft>
          <a:spcPct val="0"/>
        </a:spcAft>
        <a:buChar char="–"/>
        <a:defRPr sz="1600">
          <a:solidFill>
            <a:schemeClr val="tx1"/>
          </a:solidFill>
          <a:latin typeface="+mn-lt"/>
        </a:defRPr>
      </a:lvl2pPr>
      <a:lvl3pPr marL="1143000" indent="-228600" algn="l" rtl="0" eaLnBrk="1" fontAlgn="base" hangingPunct="1">
        <a:spcBef>
          <a:spcPct val="20000"/>
        </a:spcBef>
        <a:spcAft>
          <a:spcPct val="0"/>
        </a:spcAft>
        <a:buChar char="•"/>
        <a:defRPr sz="1600">
          <a:solidFill>
            <a:schemeClr val="tx1"/>
          </a:solidFill>
          <a:latin typeface="+mn-lt"/>
        </a:defRPr>
      </a:lvl3pPr>
      <a:lvl4pPr marL="1600200" indent="-228600" algn="l" rtl="0" eaLnBrk="1" fontAlgn="base" hangingPunct="1">
        <a:spcBef>
          <a:spcPct val="20000"/>
        </a:spcBef>
        <a:spcAft>
          <a:spcPct val="0"/>
        </a:spcAft>
        <a:buChar char="–"/>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jpeg"/><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p:cNvSpPr txBox="1"/>
          <p:nvPr/>
        </p:nvSpPr>
        <p:spPr>
          <a:xfrm>
            <a:off x="179512" y="1772816"/>
            <a:ext cx="8424936" cy="1569660"/>
          </a:xfrm>
          <a:prstGeom prst="rect">
            <a:avLst/>
          </a:prstGeom>
          <a:noFill/>
        </p:spPr>
        <p:txBody>
          <a:bodyPr wrap="square" rtlCol="0">
            <a:spAutoFit/>
          </a:bodyPr>
          <a:lstStyle/>
          <a:p>
            <a:endParaRPr lang="tr-TR" sz="4800" dirty="0"/>
          </a:p>
          <a:p>
            <a:endParaRPr lang="tr-TR" sz="4800" dirty="0"/>
          </a:p>
        </p:txBody>
      </p:sp>
      <p:sp>
        <p:nvSpPr>
          <p:cNvPr id="4" name="Başlık 3"/>
          <p:cNvSpPr>
            <a:spLocks noGrp="1"/>
          </p:cNvSpPr>
          <p:nvPr>
            <p:ph type="ctrTitle"/>
          </p:nvPr>
        </p:nvSpPr>
        <p:spPr>
          <a:xfrm>
            <a:off x="1055076" y="1417822"/>
            <a:ext cx="7549371" cy="2523768"/>
          </a:xfrm>
        </p:spPr>
        <p:txBody>
          <a:bodyPr/>
          <a:lstStyle/>
          <a:p>
            <a:r>
              <a:rPr lang="tr-TR" sz="3200" dirty="0" smtClean="0"/>
              <a:t>METRISO 1000D ÖLÇÜM CİHAZINI </a:t>
            </a:r>
            <a:br>
              <a:rPr lang="tr-TR" sz="3200" dirty="0" smtClean="0"/>
            </a:br>
            <a:r>
              <a:rPr lang="tr-TR" sz="3200" dirty="0" smtClean="0"/>
              <a:t>JENERATÖR TOPRAK KAÇAĞI ARIZASINDA</a:t>
            </a:r>
            <a:br>
              <a:rPr lang="tr-TR" sz="3200" dirty="0" smtClean="0"/>
            </a:br>
            <a:r>
              <a:rPr lang="tr-TR" sz="3200" dirty="0" smtClean="0"/>
              <a:t>KULLANMA </a:t>
            </a:r>
            <a:r>
              <a:rPr lang="tr-TR" sz="3200" dirty="0"/>
              <a:t>TALİMATI </a:t>
            </a:r>
            <a:br>
              <a:rPr lang="tr-TR" sz="3200" dirty="0"/>
            </a:br>
            <a:endParaRPr lang="en-US" dirty="0"/>
          </a:p>
        </p:txBody>
      </p:sp>
      <p:sp>
        <p:nvSpPr>
          <p:cNvPr id="5" name="Alt Başlık 4"/>
          <p:cNvSpPr>
            <a:spLocks noGrp="1"/>
          </p:cNvSpPr>
          <p:nvPr>
            <p:ph type="subTitle" idx="1"/>
          </p:nvPr>
        </p:nvSpPr>
        <p:spPr>
          <a:xfrm>
            <a:off x="1043608" y="3342476"/>
            <a:ext cx="4519246" cy="863600"/>
          </a:xfrm>
        </p:spPr>
        <p:txBody>
          <a:bodyPr/>
          <a:lstStyle/>
          <a:p>
            <a:r>
              <a:rPr lang="tr-TR" dirty="0" smtClean="0"/>
              <a:t>2011-09-23_Revision 000</a:t>
            </a:r>
            <a:endParaRPr lang="en-US" dirty="0"/>
          </a:p>
        </p:txBody>
      </p:sp>
    </p:spTree>
    <p:extLst>
      <p:ext uri="{BB962C8B-B14F-4D97-AF65-F5344CB8AC3E}">
        <p14:creationId xmlns:p14="http://schemas.microsoft.com/office/powerpoint/2010/main" val="4028610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7" descr="adsı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ayt Numarası Yer Tutucusu 1"/>
          <p:cNvSpPr>
            <a:spLocks noGrp="1"/>
          </p:cNvSpPr>
          <p:nvPr>
            <p:ph type="sldNum" sz="quarter" idx="10"/>
          </p:nvPr>
        </p:nvSpPr>
        <p:spPr/>
        <p:txBody>
          <a:bodyPr/>
          <a:lstStyle/>
          <a:p>
            <a:fld id="{EE2D904C-8DCD-43D7-A8F3-EC54D0513CE7}" type="slidenum">
              <a:rPr lang="de-DE" smtClean="0"/>
              <a:pPr/>
              <a:t>2</a:t>
            </a:fld>
            <a:endParaRPr lang="de-DE"/>
          </a:p>
        </p:txBody>
      </p:sp>
    </p:spTree>
    <p:extLst>
      <p:ext uri="{BB962C8B-B14F-4D97-AF65-F5344CB8AC3E}">
        <p14:creationId xmlns:p14="http://schemas.microsoft.com/office/powerpoint/2010/main" val="10104601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p:cNvSpPr txBox="1"/>
          <p:nvPr/>
        </p:nvSpPr>
        <p:spPr>
          <a:xfrm>
            <a:off x="179512" y="805508"/>
            <a:ext cx="8681144" cy="3785652"/>
          </a:xfrm>
          <a:prstGeom prst="rect">
            <a:avLst/>
          </a:prstGeom>
          <a:noFill/>
        </p:spPr>
        <p:txBody>
          <a:bodyPr wrap="square" rtlCol="0">
            <a:spAutoFit/>
          </a:bodyPr>
          <a:lstStyle/>
          <a:p>
            <a:pPr marL="228600" indent="-228600">
              <a:buFont typeface="+mj-lt"/>
              <a:buAutoNum type="arabicPeriod"/>
            </a:pPr>
            <a:r>
              <a:rPr lang="tr-TR" sz="2000" dirty="0" smtClean="0"/>
              <a:t>İçindekiler</a:t>
            </a:r>
          </a:p>
          <a:p>
            <a:pPr marL="228600" indent="-228600">
              <a:buFont typeface="+mj-lt"/>
              <a:buAutoNum type="arabicPeriod"/>
            </a:pPr>
            <a:r>
              <a:rPr lang="tr-TR" sz="2000" dirty="0"/>
              <a:t>ENERCON Türbinlerinde Jeneratöre Genel Bakış</a:t>
            </a:r>
          </a:p>
          <a:p>
            <a:r>
              <a:rPr lang="tr-TR" sz="2000" dirty="0"/>
              <a:t>	2</a:t>
            </a:r>
            <a:r>
              <a:rPr lang="tr-TR" sz="2000" dirty="0" smtClean="0"/>
              <a:t>.1. </a:t>
            </a:r>
            <a:r>
              <a:rPr lang="tr-TR" sz="2000" dirty="0"/>
              <a:t>Jeneratör Özellikleri </a:t>
            </a:r>
            <a:r>
              <a:rPr lang="tr-TR" sz="2000" dirty="0" smtClean="0"/>
              <a:t>…………………………………….………...4</a:t>
            </a:r>
          </a:p>
          <a:p>
            <a:r>
              <a:rPr lang="tr-TR" sz="2000" dirty="0"/>
              <a:t>	</a:t>
            </a:r>
            <a:r>
              <a:rPr lang="tr-TR" sz="2000" dirty="0" smtClean="0"/>
              <a:t>2.2. </a:t>
            </a:r>
            <a:r>
              <a:rPr lang="tr-TR" sz="2000" dirty="0"/>
              <a:t>Jeneratörün İç Yapısı </a:t>
            </a:r>
            <a:r>
              <a:rPr lang="tr-TR" sz="2000" dirty="0" smtClean="0"/>
              <a:t>……………………………….................…5</a:t>
            </a:r>
          </a:p>
          <a:p>
            <a:r>
              <a:rPr lang="tr-TR" sz="2000" dirty="0"/>
              <a:t>3</a:t>
            </a:r>
            <a:r>
              <a:rPr lang="tr-TR" sz="2000" dirty="0" smtClean="0"/>
              <a:t>. </a:t>
            </a:r>
            <a:r>
              <a:rPr lang="tr-TR" sz="2000" dirty="0"/>
              <a:t>Toprak Kaçağı (62:43) Arızası</a:t>
            </a:r>
          </a:p>
          <a:p>
            <a:r>
              <a:rPr lang="tr-TR" sz="2000" dirty="0" smtClean="0"/>
              <a:t>	3.1. </a:t>
            </a:r>
            <a:r>
              <a:rPr lang="tr-TR" sz="2000" dirty="0"/>
              <a:t>Arızanın incelenmesi</a:t>
            </a:r>
            <a:r>
              <a:rPr lang="tr-TR" sz="2000" dirty="0" smtClean="0"/>
              <a:t>………………………………......................6</a:t>
            </a:r>
          </a:p>
          <a:p>
            <a:r>
              <a:rPr lang="tr-TR" sz="2000" dirty="0"/>
              <a:t>	</a:t>
            </a:r>
            <a:r>
              <a:rPr lang="tr-TR" sz="2000" dirty="0" smtClean="0"/>
              <a:t>3.2. Arıza Müdahale………………………………..........................…</a:t>
            </a:r>
            <a:r>
              <a:rPr lang="tr-TR" sz="2000" dirty="0"/>
              <a:t>6</a:t>
            </a:r>
            <a:endParaRPr lang="tr-TR" sz="2000" dirty="0" smtClean="0"/>
          </a:p>
          <a:p>
            <a:r>
              <a:rPr lang="tr-TR" sz="2000" dirty="0" smtClean="0"/>
              <a:t>4. </a:t>
            </a:r>
            <a:r>
              <a:rPr lang="tr-TR" sz="2000" dirty="0"/>
              <a:t>METRISO 1000D Ölçüm </a:t>
            </a:r>
            <a:r>
              <a:rPr lang="tr-TR" sz="2000" dirty="0" smtClean="0"/>
              <a:t>Cihazı</a:t>
            </a:r>
          </a:p>
          <a:p>
            <a:r>
              <a:rPr lang="tr-TR" sz="2000" dirty="0"/>
              <a:t>	</a:t>
            </a:r>
            <a:r>
              <a:rPr lang="tr-TR" sz="2000" dirty="0" smtClean="0"/>
              <a:t>4.1</a:t>
            </a:r>
            <a:r>
              <a:rPr lang="tr-TR" sz="2000" dirty="0"/>
              <a:t>. Cihazın Tanıtımı</a:t>
            </a:r>
            <a:r>
              <a:rPr lang="tr-TR" sz="2000" dirty="0" smtClean="0"/>
              <a:t>………………………………..........................…8</a:t>
            </a:r>
            <a:endParaRPr lang="tr-TR" sz="2000" dirty="0"/>
          </a:p>
          <a:p>
            <a:r>
              <a:rPr lang="tr-TR" sz="2000" dirty="0"/>
              <a:t>	</a:t>
            </a:r>
            <a:r>
              <a:rPr lang="tr-TR" sz="2000" dirty="0" smtClean="0"/>
              <a:t>4.2. METRISO 1000D Cihazı ile Ölçüm……………………….......…9</a:t>
            </a:r>
            <a:endParaRPr lang="tr-TR" sz="2000" dirty="0"/>
          </a:p>
          <a:p>
            <a:r>
              <a:rPr lang="tr-TR" sz="2000" dirty="0" smtClean="0"/>
              <a:t>5. </a:t>
            </a:r>
            <a:r>
              <a:rPr lang="tr-TR" sz="2000" dirty="0" err="1" smtClean="0"/>
              <a:t>Imprint</a:t>
            </a:r>
            <a:endParaRPr lang="tr-TR" sz="2000" dirty="0" smtClean="0"/>
          </a:p>
          <a:p>
            <a:endParaRPr lang="tr-TR" sz="2000" dirty="0"/>
          </a:p>
        </p:txBody>
      </p:sp>
      <p:sp>
        <p:nvSpPr>
          <p:cNvPr id="2" name="Başlık 1"/>
          <p:cNvSpPr>
            <a:spLocks noGrp="1"/>
          </p:cNvSpPr>
          <p:nvPr>
            <p:ph type="title"/>
          </p:nvPr>
        </p:nvSpPr>
        <p:spPr>
          <a:xfrm>
            <a:off x="406004" y="71628"/>
            <a:ext cx="6491654" cy="954107"/>
          </a:xfrm>
        </p:spPr>
        <p:txBody>
          <a:bodyPr/>
          <a:lstStyle/>
          <a:p>
            <a:r>
              <a:rPr lang="tr-TR" sz="1200" dirty="0"/>
              <a:t>METRISO 1000D ÖLÇÜM CİHAZINI </a:t>
            </a:r>
            <a:br>
              <a:rPr lang="tr-TR" sz="1200" dirty="0"/>
            </a:br>
            <a:r>
              <a:rPr lang="tr-TR" sz="1200" dirty="0"/>
              <a:t>JENERATÖR TOPRAK KAÇAĞI ARIZASINDA</a:t>
            </a:r>
            <a:br>
              <a:rPr lang="tr-TR" sz="1200" dirty="0"/>
            </a:br>
            <a:r>
              <a:rPr lang="tr-TR" sz="1200" dirty="0"/>
              <a:t>KULLANMA TALİMATI</a:t>
            </a:r>
            <a:r>
              <a:rPr lang="tr-TR" b="1" i="1" dirty="0">
                <a:solidFill>
                  <a:srgbClr val="C00000"/>
                </a:solidFill>
              </a:rPr>
              <a:t/>
            </a:r>
            <a:br>
              <a:rPr lang="tr-TR" b="1" i="1" dirty="0">
                <a:solidFill>
                  <a:srgbClr val="C00000"/>
                </a:solidFill>
              </a:rPr>
            </a:br>
            <a:endParaRPr lang="en-US" dirty="0"/>
          </a:p>
        </p:txBody>
      </p:sp>
      <p:sp>
        <p:nvSpPr>
          <p:cNvPr id="4" name="Slayt Numarası Yer Tutucusu 3"/>
          <p:cNvSpPr>
            <a:spLocks noGrp="1"/>
          </p:cNvSpPr>
          <p:nvPr>
            <p:ph type="sldNum" sz="quarter" idx="10"/>
          </p:nvPr>
        </p:nvSpPr>
        <p:spPr/>
        <p:txBody>
          <a:bodyPr/>
          <a:lstStyle/>
          <a:p>
            <a:fld id="{EE2D904C-8DCD-43D7-A8F3-EC54D0513CE7}" type="slidenum">
              <a:rPr lang="de-DE" smtClean="0"/>
              <a:pPr/>
              <a:t>3</a:t>
            </a:fld>
            <a:endParaRPr lang="de-DE"/>
          </a:p>
        </p:txBody>
      </p:sp>
    </p:spTree>
    <p:extLst>
      <p:ext uri="{BB962C8B-B14F-4D97-AF65-F5344CB8AC3E}">
        <p14:creationId xmlns:p14="http://schemas.microsoft.com/office/powerpoint/2010/main" val="20669858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etin kutusu 5"/>
          <p:cNvSpPr txBox="1"/>
          <p:nvPr/>
        </p:nvSpPr>
        <p:spPr>
          <a:xfrm>
            <a:off x="9864" y="692696"/>
            <a:ext cx="6348064" cy="646331"/>
          </a:xfrm>
          <a:prstGeom prst="rect">
            <a:avLst/>
          </a:prstGeom>
          <a:noFill/>
        </p:spPr>
        <p:txBody>
          <a:bodyPr wrap="square" rtlCol="0">
            <a:spAutoFit/>
          </a:bodyPr>
          <a:lstStyle/>
          <a:p>
            <a:r>
              <a:rPr lang="tr-TR" b="1" dirty="0" smtClean="0"/>
              <a:t>2. </a:t>
            </a:r>
            <a:r>
              <a:rPr lang="tr-TR" b="1" dirty="0"/>
              <a:t>ENERCON Türbinlerinde Jeneratöre Genel Bakış</a:t>
            </a:r>
          </a:p>
          <a:p>
            <a:r>
              <a:rPr lang="tr-TR" b="1" dirty="0"/>
              <a:t>	2</a:t>
            </a:r>
            <a:r>
              <a:rPr lang="tr-TR" b="1" dirty="0" smtClean="0"/>
              <a:t>.1. </a:t>
            </a:r>
            <a:r>
              <a:rPr lang="tr-TR" b="1" dirty="0"/>
              <a:t>Jeneratör Özellikleri</a:t>
            </a:r>
          </a:p>
        </p:txBody>
      </p:sp>
      <p:sp>
        <p:nvSpPr>
          <p:cNvPr id="14" name="Başlık 13"/>
          <p:cNvSpPr>
            <a:spLocks noGrp="1"/>
          </p:cNvSpPr>
          <p:nvPr>
            <p:ph type="title"/>
          </p:nvPr>
        </p:nvSpPr>
        <p:spPr>
          <a:xfrm>
            <a:off x="432289" y="87998"/>
            <a:ext cx="6491654" cy="646331"/>
          </a:xfrm>
        </p:spPr>
        <p:txBody>
          <a:bodyPr/>
          <a:lstStyle/>
          <a:p>
            <a:r>
              <a:rPr lang="tr-TR" sz="1200" dirty="0"/>
              <a:t>METRISO 1000D ÖLÇÜM CİHAZINI </a:t>
            </a:r>
            <a:br>
              <a:rPr lang="tr-TR" sz="1200" dirty="0"/>
            </a:br>
            <a:r>
              <a:rPr lang="tr-TR" sz="1200" dirty="0"/>
              <a:t>JENERATÖR TOPRAK KAÇAĞI ARIZASINDA</a:t>
            </a:r>
            <a:br>
              <a:rPr lang="tr-TR" sz="1200" dirty="0"/>
            </a:br>
            <a:r>
              <a:rPr lang="tr-TR" sz="1200" dirty="0"/>
              <a:t>KULLANMA TALİMATI</a:t>
            </a:r>
          </a:p>
        </p:txBody>
      </p:sp>
      <p:grpSp>
        <p:nvGrpSpPr>
          <p:cNvPr id="23" name="Grup 22"/>
          <p:cNvGrpSpPr/>
          <p:nvPr/>
        </p:nvGrpSpPr>
        <p:grpSpPr>
          <a:xfrm>
            <a:off x="4898012" y="1294298"/>
            <a:ext cx="4216205" cy="4943014"/>
            <a:chOff x="4920506" y="1340768"/>
            <a:chExt cx="4216205" cy="4638709"/>
          </a:xfrm>
        </p:grpSpPr>
        <p:pic>
          <p:nvPicPr>
            <p:cNvPr id="24" name="Picture 4" descr="E66_Gondelschnitt_3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0506" y="1340768"/>
              <a:ext cx="4112369" cy="4248472"/>
            </a:xfrm>
            <a:prstGeom prst="rect">
              <a:avLst/>
            </a:prstGeom>
            <a:noFill/>
            <a:extLst>
              <a:ext uri="{909E8E84-426E-40DD-AFC4-6F175D3DCCD1}">
                <a14:hiddenFill xmlns:a14="http://schemas.microsoft.com/office/drawing/2010/main">
                  <a:solidFill>
                    <a:srgbClr val="FFFFFF"/>
                  </a:solidFill>
                </a14:hiddenFill>
              </a:ext>
            </a:extLst>
          </p:spPr>
        </p:pic>
        <p:sp>
          <p:nvSpPr>
            <p:cNvPr id="25" name="Dikdörtgen 24"/>
            <p:cNvSpPr/>
            <p:nvPr/>
          </p:nvSpPr>
          <p:spPr>
            <a:xfrm>
              <a:off x="7440990" y="2735309"/>
              <a:ext cx="1695721" cy="369332"/>
            </a:xfrm>
            <a:prstGeom prst="rect">
              <a:avLst/>
            </a:prstGeom>
          </p:spPr>
          <p:txBody>
            <a:bodyPr wrap="none">
              <a:spAutoFit/>
            </a:bodyPr>
            <a:lstStyle/>
            <a:p>
              <a:r>
                <a:rPr lang="tr-TR" dirty="0" smtClean="0"/>
                <a:t>Kutup Pabuçları</a:t>
              </a:r>
              <a:endParaRPr lang="tr-TR" dirty="0"/>
            </a:p>
          </p:txBody>
        </p:sp>
        <p:sp>
          <p:nvSpPr>
            <p:cNvPr id="26" name="Dikdörtgen 25"/>
            <p:cNvSpPr/>
            <p:nvPr/>
          </p:nvSpPr>
          <p:spPr>
            <a:xfrm>
              <a:off x="7643188" y="1344823"/>
              <a:ext cx="766364" cy="369332"/>
            </a:xfrm>
            <a:prstGeom prst="rect">
              <a:avLst/>
            </a:prstGeom>
          </p:spPr>
          <p:txBody>
            <a:bodyPr wrap="none">
              <a:spAutoFit/>
            </a:bodyPr>
            <a:lstStyle/>
            <a:p>
              <a:r>
                <a:rPr lang="tr-TR" dirty="0" smtClean="0"/>
                <a:t>Stator</a:t>
              </a:r>
              <a:endParaRPr lang="tr-TR" dirty="0"/>
            </a:p>
          </p:txBody>
        </p:sp>
        <p:sp>
          <p:nvSpPr>
            <p:cNvPr id="27" name="Dikdörtgen 26"/>
            <p:cNvSpPr/>
            <p:nvPr/>
          </p:nvSpPr>
          <p:spPr>
            <a:xfrm>
              <a:off x="7576848" y="1737071"/>
              <a:ext cx="716991" cy="369332"/>
            </a:xfrm>
            <a:prstGeom prst="rect">
              <a:avLst/>
            </a:prstGeom>
          </p:spPr>
          <p:txBody>
            <a:bodyPr wrap="none">
              <a:spAutoFit/>
            </a:bodyPr>
            <a:lstStyle/>
            <a:p>
              <a:r>
                <a:rPr lang="tr-TR" dirty="0" smtClean="0"/>
                <a:t>Rotor</a:t>
              </a:r>
              <a:endParaRPr lang="tr-TR" dirty="0"/>
            </a:p>
          </p:txBody>
        </p:sp>
        <p:cxnSp>
          <p:nvCxnSpPr>
            <p:cNvPr id="28" name="Düz Ok Bağlayıcısı 27"/>
            <p:cNvCxnSpPr/>
            <p:nvPr/>
          </p:nvCxnSpPr>
          <p:spPr>
            <a:xfrm flipH="1">
              <a:off x="6976690" y="2060848"/>
              <a:ext cx="680200" cy="859127"/>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Düz Ok Bağlayıcısı 28"/>
            <p:cNvCxnSpPr/>
            <p:nvPr/>
          </p:nvCxnSpPr>
          <p:spPr>
            <a:xfrm flipH="1">
              <a:off x="7088416" y="2060848"/>
              <a:ext cx="568474" cy="400194"/>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Düz Ok Bağlayıcısı 29"/>
            <p:cNvCxnSpPr>
              <a:stCxn id="25" idx="2"/>
            </p:cNvCxnSpPr>
            <p:nvPr/>
          </p:nvCxnSpPr>
          <p:spPr>
            <a:xfrm flipH="1">
              <a:off x="7973040" y="3104641"/>
              <a:ext cx="315811" cy="859127"/>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Düz Ok Bağlayıcısı 30"/>
            <p:cNvCxnSpPr/>
            <p:nvPr/>
          </p:nvCxnSpPr>
          <p:spPr>
            <a:xfrm flipH="1">
              <a:off x="7125180" y="1631284"/>
              <a:ext cx="451668" cy="429564"/>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Metin kutusu 31"/>
            <p:cNvSpPr txBox="1"/>
            <p:nvPr/>
          </p:nvSpPr>
          <p:spPr>
            <a:xfrm>
              <a:off x="5068478" y="5733256"/>
              <a:ext cx="3816424" cy="246221"/>
            </a:xfrm>
            <a:prstGeom prst="rect">
              <a:avLst/>
            </a:prstGeom>
            <a:noFill/>
          </p:spPr>
          <p:txBody>
            <a:bodyPr wrap="square" rtlCol="0">
              <a:spAutoFit/>
            </a:bodyPr>
            <a:lstStyle/>
            <a:p>
              <a:pPr algn="ctr"/>
              <a:r>
                <a:rPr lang="tr-TR" sz="1000" b="1" i="1" dirty="0" smtClean="0"/>
                <a:t>Resim 1. ENERCON Türbininin Jeneratör Görünümü</a:t>
              </a:r>
              <a:endParaRPr lang="tr-TR" sz="1000" b="1" i="1" dirty="0"/>
            </a:p>
          </p:txBody>
        </p:sp>
      </p:grpSp>
      <p:sp>
        <p:nvSpPr>
          <p:cNvPr id="33" name="Dikdörtgen 32"/>
          <p:cNvSpPr/>
          <p:nvPr/>
        </p:nvSpPr>
        <p:spPr>
          <a:xfrm>
            <a:off x="96768" y="1291612"/>
            <a:ext cx="6059408" cy="5341462"/>
          </a:xfrm>
          <a:prstGeom prst="rect">
            <a:avLst/>
          </a:prstGeom>
        </p:spPr>
        <p:txBody>
          <a:bodyPr wrap="square">
            <a:spAutoFit/>
          </a:bodyPr>
          <a:lstStyle/>
          <a:p>
            <a:pPr eaLnBrk="0" hangingPunct="0">
              <a:lnSpc>
                <a:spcPct val="115000"/>
              </a:lnSpc>
              <a:spcBef>
                <a:spcPct val="50000"/>
              </a:spcBef>
            </a:pPr>
            <a:r>
              <a:rPr lang="tr-TR" dirty="0" smtClean="0">
                <a:sym typeface="Symbol" pitchFamily="18" charset="2"/>
              </a:rPr>
              <a:t>	ENERCON rüzgâr türbinlerinde jeneratörün görevi m</a:t>
            </a:r>
            <a:r>
              <a:rPr lang="tr-TR" b="0" dirty="0" smtClean="0">
                <a:sym typeface="Symbol" pitchFamily="18" charset="2"/>
              </a:rPr>
              <a:t>ekanik enerjiyi elektrik enerjisine dönüştürmektir. Genel özellikleri de aşağıda listelenmiştir:</a:t>
            </a:r>
          </a:p>
          <a:p>
            <a:pPr marL="171450" indent="-171450" eaLnBrk="0" hangingPunct="0">
              <a:lnSpc>
                <a:spcPct val="115000"/>
              </a:lnSpc>
              <a:spcBef>
                <a:spcPct val="50000"/>
              </a:spcBef>
              <a:buFont typeface="Arial" pitchFamily="34" charset="0"/>
              <a:buChar char="•"/>
            </a:pPr>
            <a:r>
              <a:rPr lang="tr-TR" b="0" dirty="0" smtClean="0">
                <a:sym typeface="Symbol" pitchFamily="18" charset="2"/>
              </a:rPr>
              <a:t>Senkron jeneratördür,</a:t>
            </a:r>
          </a:p>
          <a:p>
            <a:pPr marL="171450" indent="-171450" eaLnBrk="0" hangingPunct="0">
              <a:lnSpc>
                <a:spcPct val="115000"/>
              </a:lnSpc>
              <a:spcBef>
                <a:spcPct val="50000"/>
              </a:spcBef>
              <a:buClr>
                <a:srgbClr val="000000"/>
              </a:buClr>
              <a:buSzPct val="100000"/>
              <a:buFont typeface="Arial" pitchFamily="34" charset="0"/>
              <a:buChar char="•"/>
            </a:pPr>
            <a:r>
              <a:rPr lang="tr-TR" b="0" dirty="0" smtClean="0">
                <a:sym typeface="Symbol" pitchFamily="18" charset="2"/>
              </a:rPr>
              <a:t>Çapı büyüktür,</a:t>
            </a:r>
          </a:p>
          <a:p>
            <a:pPr marL="171450" indent="-171450" eaLnBrk="0" hangingPunct="0">
              <a:lnSpc>
                <a:spcPct val="115000"/>
              </a:lnSpc>
              <a:spcBef>
                <a:spcPct val="50000"/>
              </a:spcBef>
              <a:buClr>
                <a:srgbClr val="000000"/>
              </a:buClr>
              <a:buSzPct val="100000"/>
              <a:buFont typeface="Arial" pitchFamily="34" charset="0"/>
              <a:buChar char="•"/>
            </a:pPr>
            <a:r>
              <a:rPr lang="tr-TR" b="0" dirty="0" smtClean="0">
                <a:sym typeface="Symbol" pitchFamily="18" charset="2"/>
              </a:rPr>
              <a:t>Çok kutupludur,</a:t>
            </a:r>
          </a:p>
          <a:p>
            <a:pPr marL="171450" indent="-171450" eaLnBrk="0" hangingPunct="0">
              <a:lnSpc>
                <a:spcPct val="115000"/>
              </a:lnSpc>
              <a:spcBef>
                <a:spcPct val="50000"/>
              </a:spcBef>
              <a:buClr>
                <a:srgbClr val="000000"/>
              </a:buClr>
              <a:buSzPct val="100000"/>
              <a:buFont typeface="Arial" pitchFamily="34" charset="0"/>
              <a:buChar char="•"/>
            </a:pPr>
            <a:r>
              <a:rPr lang="tr-TR" b="0" dirty="0" smtClean="0">
                <a:sym typeface="Symbol" pitchFamily="18" charset="2"/>
              </a:rPr>
              <a:t>Her biri 3 fazlı 2 sistemden oluşur,</a:t>
            </a:r>
          </a:p>
          <a:p>
            <a:pPr marL="171450" indent="-171450" eaLnBrk="0" hangingPunct="0">
              <a:lnSpc>
                <a:spcPct val="115000"/>
              </a:lnSpc>
              <a:spcBef>
                <a:spcPct val="50000"/>
              </a:spcBef>
              <a:buClr>
                <a:srgbClr val="000000"/>
              </a:buClr>
              <a:buSzPct val="100000"/>
              <a:buFont typeface="Arial" pitchFamily="34" charset="0"/>
              <a:buChar char="•"/>
            </a:pPr>
            <a:r>
              <a:rPr lang="tr-TR" b="0" dirty="0" smtClean="0">
                <a:sym typeface="Symbol" pitchFamily="18" charset="2"/>
              </a:rPr>
              <a:t>Uyartım, doğru gerilimle (DC) beslenen kutup pabuçlarından sağlanır,</a:t>
            </a:r>
          </a:p>
          <a:p>
            <a:pPr marL="171450" indent="-171450" eaLnBrk="0" hangingPunct="0">
              <a:lnSpc>
                <a:spcPct val="115000"/>
              </a:lnSpc>
              <a:spcBef>
                <a:spcPct val="50000"/>
              </a:spcBef>
              <a:buClr>
                <a:srgbClr val="000000"/>
              </a:buClr>
              <a:buSzPct val="100000"/>
              <a:buFont typeface="Arial" pitchFamily="34" charset="0"/>
              <a:buChar char="•"/>
            </a:pPr>
            <a:r>
              <a:rPr lang="tr-TR" b="0" dirty="0" smtClean="0">
                <a:sym typeface="Symbol" pitchFamily="18" charset="2"/>
              </a:rPr>
              <a:t>Dönme hızı ve frekansı değişkendir,</a:t>
            </a:r>
          </a:p>
          <a:p>
            <a:pPr marL="171450" indent="-171450" eaLnBrk="0" hangingPunct="0">
              <a:lnSpc>
                <a:spcPct val="115000"/>
              </a:lnSpc>
              <a:spcBef>
                <a:spcPct val="50000"/>
              </a:spcBef>
              <a:buClr>
                <a:srgbClr val="000000"/>
              </a:buClr>
              <a:buSzPct val="100000"/>
              <a:buFont typeface="Arial" pitchFamily="34" charset="0"/>
              <a:buChar char="•"/>
            </a:pPr>
            <a:r>
              <a:rPr lang="tr-TR" b="0" dirty="0" smtClean="0">
                <a:sym typeface="Symbol" pitchFamily="18" charset="2"/>
              </a:rPr>
              <a:t>~540V'a kadar değişken çıkış gerilimi sağlar,</a:t>
            </a:r>
          </a:p>
          <a:p>
            <a:pPr marL="171450" indent="-171450" eaLnBrk="0" hangingPunct="0">
              <a:lnSpc>
                <a:spcPct val="115000"/>
              </a:lnSpc>
              <a:spcBef>
                <a:spcPct val="50000"/>
              </a:spcBef>
              <a:buClr>
                <a:srgbClr val="000000"/>
              </a:buClr>
              <a:buSzPct val="100000"/>
              <a:buFont typeface="Arial" pitchFamily="34" charset="0"/>
              <a:buChar char="•"/>
            </a:pPr>
            <a:r>
              <a:rPr lang="tr-TR" b="0" dirty="0" smtClean="0">
                <a:sym typeface="Symbol" pitchFamily="18" charset="2"/>
              </a:rPr>
              <a:t>Sıcaklık ölçümü, izolasyon izleme sistemi ve aşırı gerilim koruması vardır.</a:t>
            </a:r>
            <a:endParaRPr lang="tr-TR" b="0" dirty="0">
              <a:sym typeface="Symbol" pitchFamily="18" charset="2"/>
            </a:endParaRPr>
          </a:p>
        </p:txBody>
      </p:sp>
      <p:sp>
        <p:nvSpPr>
          <p:cNvPr id="2" name="Slayt Numarası Yer Tutucusu 1"/>
          <p:cNvSpPr>
            <a:spLocks noGrp="1"/>
          </p:cNvSpPr>
          <p:nvPr>
            <p:ph type="sldNum" sz="quarter" idx="10"/>
          </p:nvPr>
        </p:nvSpPr>
        <p:spPr/>
        <p:txBody>
          <a:bodyPr/>
          <a:lstStyle/>
          <a:p>
            <a:fld id="{EE2D904C-8DCD-43D7-A8F3-EC54D0513CE7}" type="slidenum">
              <a:rPr lang="de-DE" smtClean="0"/>
              <a:pPr/>
              <a:t>4</a:t>
            </a:fld>
            <a:endParaRPr lang="de-DE"/>
          </a:p>
        </p:txBody>
      </p:sp>
      <p:sp>
        <p:nvSpPr>
          <p:cNvPr id="18" name="İçerik Yer Tutucusu 2"/>
          <p:cNvSpPr txBox="1">
            <a:spLocks/>
          </p:cNvSpPr>
          <p:nvPr/>
        </p:nvSpPr>
        <p:spPr>
          <a:xfrm>
            <a:off x="-19384" y="6370844"/>
            <a:ext cx="7400888" cy="3512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tr-TR" sz="800" i="1" dirty="0" smtClean="0"/>
              <a:t>Bu doküman bilgi amaçlıdır. Yetkili olmayan kişiler tarafından </a:t>
            </a:r>
            <a:r>
              <a:rPr lang="tr-TR" sz="800" b="1" i="1" dirty="0" smtClean="0"/>
              <a:t>kesinlikle</a:t>
            </a:r>
            <a:r>
              <a:rPr lang="tr-TR" sz="800" i="1" dirty="0" smtClean="0"/>
              <a:t> uygulamaya geçilmemelidir.</a:t>
            </a:r>
          </a:p>
          <a:p>
            <a:pPr marL="0" indent="0">
              <a:buNone/>
            </a:pPr>
            <a:endParaRPr lang="tr-TR" sz="800" i="1" dirty="0"/>
          </a:p>
        </p:txBody>
      </p:sp>
    </p:spTree>
    <p:extLst>
      <p:ext uri="{BB962C8B-B14F-4D97-AF65-F5344CB8AC3E}">
        <p14:creationId xmlns:p14="http://schemas.microsoft.com/office/powerpoint/2010/main" val="36751530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aşlık 5"/>
          <p:cNvSpPr>
            <a:spLocks noGrp="1"/>
          </p:cNvSpPr>
          <p:nvPr>
            <p:ph type="title"/>
          </p:nvPr>
        </p:nvSpPr>
        <p:spPr>
          <a:xfrm>
            <a:off x="432289" y="87998"/>
            <a:ext cx="6491654" cy="646331"/>
          </a:xfrm>
        </p:spPr>
        <p:txBody>
          <a:bodyPr/>
          <a:lstStyle/>
          <a:p>
            <a:r>
              <a:rPr lang="tr-TR" sz="1200" dirty="0"/>
              <a:t>METRISO 1000D ÖLÇÜM CİHAZINI </a:t>
            </a:r>
            <a:br>
              <a:rPr lang="tr-TR" sz="1200" dirty="0"/>
            </a:br>
            <a:r>
              <a:rPr lang="tr-TR" sz="1200" dirty="0"/>
              <a:t>JENERATÖR TOPRAK KAÇAĞI ARIZASINDA</a:t>
            </a:r>
            <a:br>
              <a:rPr lang="tr-TR" sz="1200" dirty="0"/>
            </a:br>
            <a:r>
              <a:rPr lang="tr-TR" sz="1200" dirty="0"/>
              <a:t>KULLANMA TALİMATI</a:t>
            </a:r>
            <a:endParaRPr lang="en-US" sz="1200" dirty="0"/>
          </a:p>
        </p:txBody>
      </p:sp>
      <p:sp>
        <p:nvSpPr>
          <p:cNvPr id="9" name="Metin kutusu 8"/>
          <p:cNvSpPr txBox="1"/>
          <p:nvPr/>
        </p:nvSpPr>
        <p:spPr>
          <a:xfrm>
            <a:off x="61616" y="692696"/>
            <a:ext cx="6742632" cy="369332"/>
          </a:xfrm>
          <a:prstGeom prst="rect">
            <a:avLst/>
          </a:prstGeom>
          <a:noFill/>
        </p:spPr>
        <p:txBody>
          <a:bodyPr wrap="square" rtlCol="0">
            <a:spAutoFit/>
          </a:bodyPr>
          <a:lstStyle/>
          <a:p>
            <a:r>
              <a:rPr lang="tr-TR" b="1" dirty="0"/>
              <a:t>	</a:t>
            </a:r>
            <a:r>
              <a:rPr lang="tr-TR" b="1" dirty="0" smtClean="0"/>
              <a:t>2.2. Jeneratörün İç Yapısı</a:t>
            </a:r>
            <a:endParaRPr lang="en-US" b="1" dirty="0"/>
          </a:p>
        </p:txBody>
      </p:sp>
      <p:pic>
        <p:nvPicPr>
          <p:cNvPr id="16"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1112" t="27413" r="5107" b="6845"/>
          <a:stretch/>
        </p:blipFill>
        <p:spPr bwMode="auto">
          <a:xfrm>
            <a:off x="1586925" y="2022170"/>
            <a:ext cx="6800062" cy="1862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Metin kutusu 18"/>
          <p:cNvSpPr txBox="1"/>
          <p:nvPr/>
        </p:nvSpPr>
        <p:spPr>
          <a:xfrm>
            <a:off x="96800" y="1082656"/>
            <a:ext cx="8854629" cy="923330"/>
          </a:xfrm>
          <a:prstGeom prst="rect">
            <a:avLst/>
          </a:prstGeom>
          <a:noFill/>
        </p:spPr>
        <p:txBody>
          <a:bodyPr wrap="square" rtlCol="0">
            <a:spAutoFit/>
          </a:bodyPr>
          <a:lstStyle/>
          <a:p>
            <a:r>
              <a:rPr lang="tr-TR" dirty="0" smtClean="0"/>
              <a:t>	Statordaki bakır sargıları, 6 oluk arayla çok katmanlı olarak uygulanmaktadır. Ayrıca özel olarak geliştirilen bir işleme yöntemi, her faz demetinin girişten çıkışa kadar kesintisiz olarak yerleştirildiği, sürekli bir sargı oluşturma  olanağı vermektedir.</a:t>
            </a:r>
            <a:endParaRPr lang="en-US" dirty="0"/>
          </a:p>
        </p:txBody>
      </p:sp>
      <p:sp>
        <p:nvSpPr>
          <p:cNvPr id="20" name="Metin kutusu 19"/>
          <p:cNvSpPr txBox="1"/>
          <p:nvPr/>
        </p:nvSpPr>
        <p:spPr>
          <a:xfrm>
            <a:off x="2699792" y="3868383"/>
            <a:ext cx="3816424" cy="246221"/>
          </a:xfrm>
          <a:prstGeom prst="rect">
            <a:avLst/>
          </a:prstGeom>
          <a:noFill/>
        </p:spPr>
        <p:txBody>
          <a:bodyPr wrap="square" rtlCol="0">
            <a:spAutoFit/>
          </a:bodyPr>
          <a:lstStyle/>
          <a:p>
            <a:pPr algn="ctr"/>
            <a:r>
              <a:rPr lang="tr-TR" sz="1000" b="1" i="1" dirty="0" smtClean="0"/>
              <a:t>Resim 2.  Stator Sargı Açık Şeması</a:t>
            </a:r>
            <a:endParaRPr lang="tr-TR" sz="1000" b="1" i="1" dirty="0"/>
          </a:p>
        </p:txBody>
      </p:sp>
      <p:grpSp>
        <p:nvGrpSpPr>
          <p:cNvPr id="5" name="Grup 4"/>
          <p:cNvGrpSpPr/>
          <p:nvPr/>
        </p:nvGrpSpPr>
        <p:grpSpPr>
          <a:xfrm>
            <a:off x="424958" y="4077072"/>
            <a:ext cx="4896342" cy="2406461"/>
            <a:chOff x="424958" y="4077072"/>
            <a:chExt cx="4896342" cy="2406461"/>
          </a:xfrm>
        </p:grpSpPr>
        <p:pic>
          <p:nvPicPr>
            <p:cNvPr id="17"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2572" r="1926" b="10783"/>
            <a:stretch/>
          </p:blipFill>
          <p:spPr bwMode="auto">
            <a:xfrm>
              <a:off x="571500" y="4077072"/>
              <a:ext cx="4749800" cy="2037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Metin kutusu 20"/>
            <p:cNvSpPr txBox="1"/>
            <p:nvPr/>
          </p:nvSpPr>
          <p:spPr>
            <a:xfrm>
              <a:off x="424958" y="6237312"/>
              <a:ext cx="3816424" cy="246221"/>
            </a:xfrm>
            <a:prstGeom prst="rect">
              <a:avLst/>
            </a:prstGeom>
            <a:noFill/>
          </p:spPr>
          <p:txBody>
            <a:bodyPr wrap="square" rtlCol="0">
              <a:spAutoFit/>
            </a:bodyPr>
            <a:lstStyle/>
            <a:p>
              <a:pPr algn="ctr"/>
              <a:r>
                <a:rPr lang="tr-TR" sz="1000" b="1" i="1" dirty="0" smtClean="0"/>
                <a:t>Resim 3. Stator Görünümü</a:t>
              </a:r>
              <a:endParaRPr lang="tr-TR" sz="1000" b="1" i="1" dirty="0"/>
            </a:p>
          </p:txBody>
        </p:sp>
      </p:grpSp>
      <p:grpSp>
        <p:nvGrpSpPr>
          <p:cNvPr id="2" name="Grup 1"/>
          <p:cNvGrpSpPr/>
          <p:nvPr/>
        </p:nvGrpSpPr>
        <p:grpSpPr>
          <a:xfrm>
            <a:off x="5123173" y="4251831"/>
            <a:ext cx="3816424" cy="2108591"/>
            <a:chOff x="5104669" y="3981382"/>
            <a:chExt cx="3816424" cy="2108591"/>
          </a:xfrm>
        </p:grpSpPr>
        <p:pic>
          <p:nvPicPr>
            <p:cNvPr id="18" name="Picture 2" descr="DCP_322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99968" y="3981382"/>
              <a:ext cx="2680099" cy="1750269"/>
            </a:xfrm>
            <a:prstGeom prst="rect">
              <a:avLst/>
            </a:prstGeom>
            <a:noFill/>
            <a:extLst>
              <a:ext uri="{909E8E84-426E-40DD-AFC4-6F175D3DCCD1}">
                <a14:hiddenFill xmlns:a14="http://schemas.microsoft.com/office/drawing/2010/main">
                  <a:solidFill>
                    <a:srgbClr val="FFFFFF"/>
                  </a:solidFill>
                </a14:hiddenFill>
              </a:ext>
            </a:extLst>
          </p:spPr>
        </p:pic>
        <p:sp>
          <p:nvSpPr>
            <p:cNvPr id="22" name="Metin kutusu 21"/>
            <p:cNvSpPr txBox="1"/>
            <p:nvPr/>
          </p:nvSpPr>
          <p:spPr>
            <a:xfrm>
              <a:off x="5104669" y="5843752"/>
              <a:ext cx="3816424" cy="246221"/>
            </a:xfrm>
            <a:prstGeom prst="rect">
              <a:avLst/>
            </a:prstGeom>
            <a:noFill/>
          </p:spPr>
          <p:txBody>
            <a:bodyPr wrap="square" rtlCol="0">
              <a:spAutoFit/>
            </a:bodyPr>
            <a:lstStyle/>
            <a:p>
              <a:pPr algn="ctr"/>
              <a:r>
                <a:rPr lang="tr-TR" sz="1000" b="1" i="1" dirty="0" smtClean="0"/>
                <a:t>Resim 4. </a:t>
              </a:r>
              <a:r>
                <a:rPr lang="tr-TR" sz="1000" b="1" i="1" dirty="0" err="1" smtClean="0"/>
                <a:t>Sarımsız</a:t>
              </a:r>
              <a:r>
                <a:rPr lang="tr-TR" sz="1000" b="1" i="1" dirty="0" smtClean="0"/>
                <a:t> Stator Görünümü</a:t>
              </a:r>
              <a:endParaRPr lang="tr-TR" sz="1000" b="1" i="1" dirty="0"/>
            </a:p>
          </p:txBody>
        </p:sp>
      </p:grpSp>
      <p:sp>
        <p:nvSpPr>
          <p:cNvPr id="3" name="Slayt Numarası Yer Tutucusu 2"/>
          <p:cNvSpPr>
            <a:spLocks noGrp="1"/>
          </p:cNvSpPr>
          <p:nvPr>
            <p:ph type="sldNum" sz="quarter" idx="10"/>
          </p:nvPr>
        </p:nvSpPr>
        <p:spPr/>
        <p:txBody>
          <a:bodyPr/>
          <a:lstStyle/>
          <a:p>
            <a:fld id="{EE2D904C-8DCD-43D7-A8F3-EC54D0513CE7}" type="slidenum">
              <a:rPr lang="de-DE" smtClean="0"/>
              <a:pPr/>
              <a:t>5</a:t>
            </a:fld>
            <a:endParaRPr lang="de-DE"/>
          </a:p>
        </p:txBody>
      </p:sp>
      <p:sp>
        <p:nvSpPr>
          <p:cNvPr id="15" name="İçerik Yer Tutucusu 2"/>
          <p:cNvSpPr txBox="1">
            <a:spLocks/>
          </p:cNvSpPr>
          <p:nvPr/>
        </p:nvSpPr>
        <p:spPr>
          <a:xfrm>
            <a:off x="-19384" y="6370844"/>
            <a:ext cx="7400888" cy="3512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tr-TR" sz="800" i="1" dirty="0" smtClean="0"/>
              <a:t>Bu doküman bilgi amaçlıdır. Yetkili olmayan kişiler tarafından </a:t>
            </a:r>
            <a:r>
              <a:rPr lang="tr-TR" sz="800" b="1" i="1" dirty="0" smtClean="0"/>
              <a:t>kesinlikle</a:t>
            </a:r>
            <a:r>
              <a:rPr lang="tr-TR" sz="800" i="1" dirty="0" smtClean="0"/>
              <a:t> uygulamaya geçilmemelidir.</a:t>
            </a:r>
          </a:p>
          <a:p>
            <a:pPr marL="0" indent="0">
              <a:buNone/>
            </a:pPr>
            <a:endParaRPr lang="tr-TR" sz="800" i="1" dirty="0"/>
          </a:p>
        </p:txBody>
      </p:sp>
    </p:spTree>
    <p:extLst>
      <p:ext uri="{BB962C8B-B14F-4D97-AF65-F5344CB8AC3E}">
        <p14:creationId xmlns:p14="http://schemas.microsoft.com/office/powerpoint/2010/main" val="38614675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p:cNvSpPr txBox="1"/>
          <p:nvPr/>
        </p:nvSpPr>
        <p:spPr>
          <a:xfrm>
            <a:off x="321919" y="1339027"/>
            <a:ext cx="8532946" cy="1077218"/>
          </a:xfrm>
          <a:prstGeom prst="rect">
            <a:avLst/>
          </a:prstGeom>
          <a:noFill/>
        </p:spPr>
        <p:txBody>
          <a:bodyPr wrap="square" rtlCol="0">
            <a:spAutoFit/>
          </a:bodyPr>
          <a:lstStyle/>
          <a:p>
            <a:r>
              <a:rPr lang="tr-TR" sz="1600" dirty="0"/>
              <a:t>	</a:t>
            </a:r>
            <a:r>
              <a:rPr lang="tr-TR" sz="1600" dirty="0" smtClean="0"/>
              <a:t>Türbinde </a:t>
            </a:r>
            <a:r>
              <a:rPr lang="tr-TR" sz="1600" dirty="0"/>
              <a:t>stator arızası meydana geldiğinde genellikle </a:t>
            </a:r>
            <a:r>
              <a:rPr lang="tr-TR" sz="1600" dirty="0" smtClean="0"/>
              <a:t>«62:43 Earth </a:t>
            </a:r>
            <a:r>
              <a:rPr lang="tr-TR" sz="1600" dirty="0" err="1" smtClean="0"/>
              <a:t>Fault</a:t>
            </a:r>
            <a:r>
              <a:rPr lang="tr-TR" sz="1600" dirty="0" smtClean="0"/>
              <a:t>» olarak </a:t>
            </a:r>
            <a:r>
              <a:rPr lang="tr-TR" sz="1600" dirty="0"/>
              <a:t>gelmektedir. </a:t>
            </a:r>
            <a:r>
              <a:rPr lang="tr-TR" sz="1600" dirty="0" smtClean="0"/>
              <a:t>«</a:t>
            </a:r>
            <a:r>
              <a:rPr lang="tr-TR" sz="1600" dirty="0" err="1" smtClean="0"/>
              <a:t>Rectifier</a:t>
            </a:r>
            <a:r>
              <a:rPr lang="tr-TR" sz="1600" dirty="0" smtClean="0"/>
              <a:t>», «</a:t>
            </a:r>
            <a:r>
              <a:rPr lang="tr-TR" sz="1600" dirty="0" err="1" smtClean="0"/>
              <a:t>filter</a:t>
            </a:r>
            <a:r>
              <a:rPr lang="tr-TR" sz="1600" dirty="0" smtClean="0"/>
              <a:t> </a:t>
            </a:r>
            <a:r>
              <a:rPr lang="tr-TR" sz="1600" dirty="0" err="1" smtClean="0"/>
              <a:t>box</a:t>
            </a:r>
            <a:r>
              <a:rPr lang="tr-TR" sz="1600" dirty="0" smtClean="0"/>
              <a:t>» ve «</a:t>
            </a:r>
            <a:r>
              <a:rPr lang="tr-TR" sz="1600" dirty="0" err="1" smtClean="0"/>
              <a:t>over</a:t>
            </a:r>
            <a:r>
              <a:rPr lang="tr-TR" sz="1600" dirty="0" smtClean="0"/>
              <a:t> </a:t>
            </a:r>
            <a:r>
              <a:rPr lang="tr-TR" sz="1600" dirty="0" err="1"/>
              <a:t>protection</a:t>
            </a:r>
            <a:r>
              <a:rPr lang="tr-TR" sz="1600" dirty="0"/>
              <a:t> </a:t>
            </a:r>
            <a:r>
              <a:rPr lang="tr-TR" sz="1600" dirty="0" err="1" smtClean="0"/>
              <a:t>box</a:t>
            </a:r>
            <a:r>
              <a:rPr lang="tr-TR" sz="1600" dirty="0" smtClean="0"/>
              <a:t>» </a:t>
            </a:r>
            <a:r>
              <a:rPr lang="tr-TR" sz="1600" dirty="0"/>
              <a:t>kontrolü yapıldıktan sonra hala arıza çözülemiyorsa türbin </a:t>
            </a:r>
            <a:r>
              <a:rPr lang="tr-TR" sz="1600" dirty="0" smtClean="0"/>
              <a:t>jeneratör </a:t>
            </a:r>
            <a:r>
              <a:rPr lang="tr-TR" sz="1600" dirty="0"/>
              <a:t>stator sargılarında bir sorun </a:t>
            </a:r>
            <a:r>
              <a:rPr lang="tr-TR" sz="1600" dirty="0" smtClean="0"/>
              <a:t>olduğuna karar verilir ve incelenmeye başlanır. </a:t>
            </a:r>
            <a:endParaRPr lang="tr-TR" sz="1600" dirty="0"/>
          </a:p>
        </p:txBody>
      </p:sp>
      <p:sp>
        <p:nvSpPr>
          <p:cNvPr id="6" name="Başlık 5"/>
          <p:cNvSpPr>
            <a:spLocks noGrp="1"/>
          </p:cNvSpPr>
          <p:nvPr>
            <p:ph type="title"/>
          </p:nvPr>
        </p:nvSpPr>
        <p:spPr>
          <a:xfrm>
            <a:off x="432289" y="87998"/>
            <a:ext cx="6491654" cy="646331"/>
          </a:xfrm>
        </p:spPr>
        <p:txBody>
          <a:bodyPr/>
          <a:lstStyle/>
          <a:p>
            <a:r>
              <a:rPr lang="tr-TR" sz="1200" dirty="0"/>
              <a:t>METRISO 1000D ÖLÇÜM CİHAZINI </a:t>
            </a:r>
            <a:br>
              <a:rPr lang="tr-TR" sz="1200" dirty="0"/>
            </a:br>
            <a:r>
              <a:rPr lang="tr-TR" sz="1200" dirty="0"/>
              <a:t>JENERATÖR TOPRAK KAÇAĞI ARIZASINDA</a:t>
            </a:r>
            <a:br>
              <a:rPr lang="tr-TR" sz="1200" dirty="0"/>
            </a:br>
            <a:r>
              <a:rPr lang="tr-TR" sz="1200" dirty="0"/>
              <a:t>KULLANMA TALİMATI</a:t>
            </a:r>
            <a:endParaRPr lang="en-US" sz="1200" dirty="0"/>
          </a:p>
        </p:txBody>
      </p:sp>
      <p:sp>
        <p:nvSpPr>
          <p:cNvPr id="14" name="Metin kutusu 13"/>
          <p:cNvSpPr txBox="1"/>
          <p:nvPr/>
        </p:nvSpPr>
        <p:spPr>
          <a:xfrm>
            <a:off x="9864" y="692696"/>
            <a:ext cx="9134136" cy="646331"/>
          </a:xfrm>
          <a:prstGeom prst="rect">
            <a:avLst/>
          </a:prstGeom>
          <a:noFill/>
        </p:spPr>
        <p:txBody>
          <a:bodyPr wrap="square" rtlCol="0">
            <a:spAutoFit/>
          </a:bodyPr>
          <a:lstStyle/>
          <a:p>
            <a:r>
              <a:rPr lang="tr-TR" b="1" dirty="0"/>
              <a:t>3</a:t>
            </a:r>
            <a:r>
              <a:rPr lang="tr-TR" b="1" dirty="0" smtClean="0"/>
              <a:t>. </a:t>
            </a:r>
            <a:r>
              <a:rPr lang="tr-TR" b="1" dirty="0"/>
              <a:t>Toprak Kaçağı (62:43) </a:t>
            </a:r>
            <a:r>
              <a:rPr lang="tr-TR" b="1" dirty="0" smtClean="0"/>
              <a:t>Arızası</a:t>
            </a:r>
          </a:p>
          <a:p>
            <a:r>
              <a:rPr lang="tr-TR" b="1" dirty="0" smtClean="0"/>
              <a:t>	3.1. Arızanın İncelenmesi</a:t>
            </a:r>
          </a:p>
        </p:txBody>
      </p:sp>
      <p:sp>
        <p:nvSpPr>
          <p:cNvPr id="18" name="Metin kutusu 17"/>
          <p:cNvSpPr txBox="1"/>
          <p:nvPr/>
        </p:nvSpPr>
        <p:spPr>
          <a:xfrm>
            <a:off x="-19384" y="2555612"/>
            <a:ext cx="9134136" cy="369332"/>
          </a:xfrm>
          <a:prstGeom prst="rect">
            <a:avLst/>
          </a:prstGeom>
          <a:noFill/>
        </p:spPr>
        <p:txBody>
          <a:bodyPr wrap="square" rtlCol="0">
            <a:spAutoFit/>
          </a:bodyPr>
          <a:lstStyle/>
          <a:p>
            <a:r>
              <a:rPr lang="tr-TR" b="1" dirty="0" smtClean="0"/>
              <a:t>	3.2. Arıza Müdahale</a:t>
            </a:r>
          </a:p>
        </p:txBody>
      </p:sp>
      <p:sp>
        <p:nvSpPr>
          <p:cNvPr id="19" name="Metin kutusu 18"/>
          <p:cNvSpPr txBox="1"/>
          <p:nvPr/>
        </p:nvSpPr>
        <p:spPr>
          <a:xfrm>
            <a:off x="859632" y="3253522"/>
            <a:ext cx="2344216" cy="1569660"/>
          </a:xfrm>
          <a:prstGeom prst="rect">
            <a:avLst/>
          </a:prstGeom>
          <a:noFill/>
        </p:spPr>
        <p:txBody>
          <a:bodyPr wrap="square" rtlCol="0">
            <a:spAutoFit/>
          </a:bodyPr>
          <a:lstStyle/>
          <a:p>
            <a:pPr marL="342900" indent="-342900">
              <a:buFont typeface="Arial" pitchFamily="34" charset="0"/>
              <a:buChar char="•"/>
            </a:pPr>
            <a:r>
              <a:rPr lang="tr-TR" sz="1600" dirty="0" smtClean="0"/>
              <a:t>Öncelikli olarak türbin enerjisi kesilir </a:t>
            </a:r>
            <a:r>
              <a:rPr lang="tr-TR" sz="1600" dirty="0"/>
              <a:t>ve </a:t>
            </a:r>
            <a:r>
              <a:rPr lang="tr-TR" sz="1600" dirty="0" smtClean="0"/>
              <a:t>«</a:t>
            </a:r>
            <a:r>
              <a:rPr lang="tr-TR" sz="1600" dirty="0" err="1" smtClean="0"/>
              <a:t>filter</a:t>
            </a:r>
            <a:r>
              <a:rPr lang="tr-TR" sz="1600" dirty="0" smtClean="0"/>
              <a:t> </a:t>
            </a:r>
            <a:r>
              <a:rPr lang="tr-TR" sz="1600" dirty="0" err="1" smtClean="0"/>
              <a:t>box</a:t>
            </a:r>
            <a:r>
              <a:rPr lang="tr-TR" sz="1600" dirty="0" smtClean="0"/>
              <a:t>» sigortaları açılarak </a:t>
            </a:r>
            <a:r>
              <a:rPr lang="tr-TR" sz="1600" dirty="0"/>
              <a:t>devre dışı </a:t>
            </a:r>
            <a:r>
              <a:rPr lang="tr-TR" sz="1600" dirty="0" smtClean="0"/>
              <a:t>bırakılır (</a:t>
            </a:r>
            <a:r>
              <a:rPr lang="tr-TR" sz="1600" i="1" dirty="0" smtClean="0"/>
              <a:t>bkz. Resim 5</a:t>
            </a:r>
            <a:r>
              <a:rPr lang="tr-TR" sz="1600" dirty="0" smtClean="0"/>
              <a:t>).</a:t>
            </a:r>
          </a:p>
        </p:txBody>
      </p:sp>
      <p:sp>
        <p:nvSpPr>
          <p:cNvPr id="2" name="Slayt Numarası Yer Tutucusu 1"/>
          <p:cNvSpPr>
            <a:spLocks noGrp="1"/>
          </p:cNvSpPr>
          <p:nvPr>
            <p:ph type="sldNum" sz="quarter" idx="10"/>
          </p:nvPr>
        </p:nvSpPr>
        <p:spPr/>
        <p:txBody>
          <a:bodyPr/>
          <a:lstStyle/>
          <a:p>
            <a:fld id="{EE2D904C-8DCD-43D7-A8F3-EC54D0513CE7}" type="slidenum">
              <a:rPr lang="de-DE" smtClean="0"/>
              <a:pPr/>
              <a:t>6</a:t>
            </a:fld>
            <a:endParaRPr lang="de-DE" dirty="0"/>
          </a:p>
        </p:txBody>
      </p:sp>
      <p:sp>
        <p:nvSpPr>
          <p:cNvPr id="15" name="İçerik Yer Tutucusu 2"/>
          <p:cNvSpPr txBox="1">
            <a:spLocks/>
          </p:cNvSpPr>
          <p:nvPr/>
        </p:nvSpPr>
        <p:spPr>
          <a:xfrm>
            <a:off x="-19384" y="6370844"/>
            <a:ext cx="7400888" cy="3512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tr-TR" sz="800" i="1" dirty="0" smtClean="0"/>
              <a:t>Bu doküman bilgi amaçlıdır. Yetkili olmayan kişiler tarafından </a:t>
            </a:r>
            <a:r>
              <a:rPr lang="tr-TR" sz="800" b="1" i="1" dirty="0" smtClean="0"/>
              <a:t>kesinlikle</a:t>
            </a:r>
            <a:r>
              <a:rPr lang="tr-TR" sz="800" i="1" dirty="0" smtClean="0"/>
              <a:t> uygulamaya geçilmemelidir.</a:t>
            </a:r>
          </a:p>
          <a:p>
            <a:pPr marL="0" indent="0">
              <a:buNone/>
            </a:pPr>
            <a:endParaRPr lang="tr-TR" sz="800" i="1" dirty="0"/>
          </a:p>
        </p:txBody>
      </p:sp>
      <p:grpSp>
        <p:nvGrpSpPr>
          <p:cNvPr id="4" name="Grup 3"/>
          <p:cNvGrpSpPr/>
          <p:nvPr/>
        </p:nvGrpSpPr>
        <p:grpSpPr>
          <a:xfrm>
            <a:off x="3779912" y="2171452"/>
            <a:ext cx="4791075" cy="4188969"/>
            <a:chOff x="3779912" y="2171452"/>
            <a:chExt cx="4791075" cy="4188969"/>
          </a:xfrm>
        </p:grpSpPr>
        <p:sp>
          <p:nvSpPr>
            <p:cNvPr id="16" name="Metin kutusu 15"/>
            <p:cNvSpPr txBox="1"/>
            <p:nvPr/>
          </p:nvSpPr>
          <p:spPr>
            <a:xfrm>
              <a:off x="4267237" y="6114200"/>
              <a:ext cx="3816424" cy="246221"/>
            </a:xfrm>
            <a:prstGeom prst="rect">
              <a:avLst/>
            </a:prstGeom>
            <a:noFill/>
          </p:spPr>
          <p:txBody>
            <a:bodyPr wrap="square" rtlCol="0">
              <a:spAutoFit/>
            </a:bodyPr>
            <a:lstStyle/>
            <a:p>
              <a:pPr algn="ctr"/>
              <a:r>
                <a:rPr lang="tr-TR" sz="1000" b="1" i="1" dirty="0" smtClean="0"/>
                <a:t>Resim 5.  </a:t>
              </a:r>
              <a:r>
                <a:rPr lang="tr-TR" sz="1000" b="1" i="1" dirty="0" err="1" smtClean="0"/>
                <a:t>Filter</a:t>
              </a:r>
              <a:r>
                <a:rPr lang="tr-TR" sz="1000" b="1" i="1" dirty="0" smtClean="0"/>
                <a:t> Box</a:t>
              </a:r>
              <a:endParaRPr lang="tr-TR" sz="1000" b="1" i="1" dirty="0"/>
            </a:p>
          </p:txBody>
        </p:sp>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912" y="2171452"/>
              <a:ext cx="4791075"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6734216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aşlık 5"/>
          <p:cNvSpPr>
            <a:spLocks noGrp="1"/>
          </p:cNvSpPr>
          <p:nvPr>
            <p:ph type="title"/>
          </p:nvPr>
        </p:nvSpPr>
        <p:spPr>
          <a:xfrm>
            <a:off x="432289" y="87998"/>
            <a:ext cx="6491654" cy="646331"/>
          </a:xfrm>
        </p:spPr>
        <p:txBody>
          <a:bodyPr/>
          <a:lstStyle/>
          <a:p>
            <a:r>
              <a:rPr lang="tr-TR" sz="1200" dirty="0"/>
              <a:t>METRISO 1000D ÖLÇÜM CİHAZINI </a:t>
            </a:r>
            <a:br>
              <a:rPr lang="tr-TR" sz="1200" dirty="0"/>
            </a:br>
            <a:r>
              <a:rPr lang="tr-TR" sz="1200" dirty="0"/>
              <a:t>JENERATÖR TOPRAK KAÇAĞI ARIZASINDA</a:t>
            </a:r>
            <a:br>
              <a:rPr lang="tr-TR" sz="1200" dirty="0"/>
            </a:br>
            <a:r>
              <a:rPr lang="tr-TR" sz="1200" dirty="0"/>
              <a:t>KULLANMA TALİMATI</a:t>
            </a:r>
            <a:endParaRPr lang="en-US" sz="1200" dirty="0"/>
          </a:p>
        </p:txBody>
      </p:sp>
      <p:sp>
        <p:nvSpPr>
          <p:cNvPr id="19" name="Metin kutusu 18"/>
          <p:cNvSpPr txBox="1"/>
          <p:nvPr/>
        </p:nvSpPr>
        <p:spPr>
          <a:xfrm>
            <a:off x="321918" y="764704"/>
            <a:ext cx="8426546" cy="584775"/>
          </a:xfrm>
          <a:prstGeom prst="rect">
            <a:avLst/>
          </a:prstGeom>
          <a:noFill/>
        </p:spPr>
        <p:txBody>
          <a:bodyPr wrap="square" rtlCol="0">
            <a:spAutoFit/>
          </a:bodyPr>
          <a:lstStyle/>
          <a:p>
            <a:pPr marL="342900" indent="-342900">
              <a:buFont typeface="Arial" pitchFamily="34" charset="0"/>
              <a:buChar char="•"/>
            </a:pPr>
            <a:r>
              <a:rPr lang="tr-TR" sz="1600" dirty="0" smtClean="0"/>
              <a:t>«</a:t>
            </a:r>
            <a:r>
              <a:rPr lang="tr-TR" sz="1600" dirty="0" err="1" smtClean="0"/>
              <a:t>Rectifier</a:t>
            </a:r>
            <a:r>
              <a:rPr lang="tr-TR" sz="1600" dirty="0" smtClean="0"/>
              <a:t>» sigortaları ayrılır ve </a:t>
            </a:r>
            <a:r>
              <a:rPr lang="tr-TR" sz="1600" dirty="0"/>
              <a:t>j</a:t>
            </a:r>
            <a:r>
              <a:rPr lang="tr-TR" sz="1600" dirty="0" smtClean="0"/>
              <a:t>eneratörden gelen Sistem 1 ve Sistem 2 kabloları sökülür, izolasyonları yapılır (</a:t>
            </a:r>
            <a:r>
              <a:rPr lang="tr-TR" sz="1600" i="1" dirty="0" smtClean="0"/>
              <a:t>bkz. Resim 6 ve Resim 7</a:t>
            </a:r>
            <a:r>
              <a:rPr lang="tr-TR" sz="1600" dirty="0" smtClean="0"/>
              <a:t>).</a:t>
            </a:r>
          </a:p>
        </p:txBody>
      </p:sp>
      <p:sp>
        <p:nvSpPr>
          <p:cNvPr id="2" name="Slayt Numarası Yer Tutucusu 1"/>
          <p:cNvSpPr>
            <a:spLocks noGrp="1"/>
          </p:cNvSpPr>
          <p:nvPr>
            <p:ph type="sldNum" sz="quarter" idx="10"/>
          </p:nvPr>
        </p:nvSpPr>
        <p:spPr/>
        <p:txBody>
          <a:bodyPr/>
          <a:lstStyle/>
          <a:p>
            <a:fld id="{EE2D904C-8DCD-43D7-A8F3-EC54D0513CE7}" type="slidenum">
              <a:rPr lang="de-DE" smtClean="0"/>
              <a:pPr/>
              <a:t>7</a:t>
            </a:fld>
            <a:endParaRPr lang="de-DE"/>
          </a:p>
        </p:txBody>
      </p:sp>
      <p:sp>
        <p:nvSpPr>
          <p:cNvPr id="15" name="İçerik Yer Tutucusu 2"/>
          <p:cNvSpPr txBox="1">
            <a:spLocks/>
          </p:cNvSpPr>
          <p:nvPr/>
        </p:nvSpPr>
        <p:spPr>
          <a:xfrm>
            <a:off x="-19384" y="6370844"/>
            <a:ext cx="7400888" cy="3512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tr-TR" sz="800" i="1" dirty="0" smtClean="0"/>
              <a:t>Bu doküman bilgi amaçlıdır. Yetkili olmayan kişiler tarafından </a:t>
            </a:r>
            <a:r>
              <a:rPr lang="tr-TR" sz="800" b="1" i="1" dirty="0" smtClean="0"/>
              <a:t>kesinlikle</a:t>
            </a:r>
            <a:r>
              <a:rPr lang="tr-TR" sz="800" i="1" dirty="0" smtClean="0"/>
              <a:t> uygulamaya geçilmemelidir.</a:t>
            </a:r>
          </a:p>
          <a:p>
            <a:pPr marL="0" indent="0">
              <a:buNone/>
            </a:pPr>
            <a:endParaRPr lang="tr-TR" sz="800" i="1"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060848"/>
            <a:ext cx="3489326" cy="2940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b="3316"/>
          <a:stretch/>
        </p:blipFill>
        <p:spPr bwMode="auto">
          <a:xfrm>
            <a:off x="5076056" y="1755438"/>
            <a:ext cx="3168352" cy="3436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Metin kutusu 11"/>
          <p:cNvSpPr txBox="1"/>
          <p:nvPr/>
        </p:nvSpPr>
        <p:spPr>
          <a:xfrm>
            <a:off x="4752020" y="5307637"/>
            <a:ext cx="3816424" cy="246221"/>
          </a:xfrm>
          <a:prstGeom prst="rect">
            <a:avLst/>
          </a:prstGeom>
          <a:noFill/>
        </p:spPr>
        <p:txBody>
          <a:bodyPr wrap="square" rtlCol="0">
            <a:spAutoFit/>
          </a:bodyPr>
          <a:lstStyle/>
          <a:p>
            <a:pPr algn="ctr"/>
            <a:r>
              <a:rPr lang="tr-TR" sz="1000" b="1" i="1" dirty="0" smtClean="0"/>
              <a:t>Resim 7.  </a:t>
            </a:r>
            <a:r>
              <a:rPr lang="tr-TR" sz="1000" b="1" i="1" dirty="0" err="1" smtClean="0"/>
              <a:t>Rectifier</a:t>
            </a:r>
            <a:r>
              <a:rPr lang="tr-TR" sz="1000" b="1" i="1" dirty="0" smtClean="0"/>
              <a:t> Box, SHUNT VERSION</a:t>
            </a:r>
            <a:endParaRPr lang="tr-TR" sz="1000" b="1" i="1" dirty="0"/>
          </a:p>
        </p:txBody>
      </p:sp>
      <p:sp>
        <p:nvSpPr>
          <p:cNvPr id="13" name="Metin kutusu 12"/>
          <p:cNvSpPr txBox="1"/>
          <p:nvPr/>
        </p:nvSpPr>
        <p:spPr>
          <a:xfrm>
            <a:off x="520019" y="5184527"/>
            <a:ext cx="3816424" cy="246221"/>
          </a:xfrm>
          <a:prstGeom prst="rect">
            <a:avLst/>
          </a:prstGeom>
          <a:noFill/>
        </p:spPr>
        <p:txBody>
          <a:bodyPr wrap="square" rtlCol="0">
            <a:spAutoFit/>
          </a:bodyPr>
          <a:lstStyle/>
          <a:p>
            <a:pPr algn="ctr"/>
            <a:r>
              <a:rPr lang="tr-TR" sz="1000" b="1" i="1" dirty="0" smtClean="0"/>
              <a:t>Resim </a:t>
            </a:r>
            <a:r>
              <a:rPr lang="tr-TR" sz="1000" b="1" i="1" dirty="0"/>
              <a:t>6</a:t>
            </a:r>
            <a:r>
              <a:rPr lang="tr-TR" sz="1000" b="1" i="1" dirty="0" smtClean="0"/>
              <a:t>.  </a:t>
            </a:r>
            <a:r>
              <a:rPr lang="tr-TR" sz="1000" b="1" i="1" dirty="0" err="1" smtClean="0"/>
              <a:t>Rectifier</a:t>
            </a:r>
            <a:r>
              <a:rPr lang="tr-TR" sz="1000" b="1" i="1" dirty="0" smtClean="0"/>
              <a:t> Box, FUSE VERSION</a:t>
            </a:r>
            <a:endParaRPr lang="tr-TR" sz="1000" b="1" i="1" dirty="0"/>
          </a:p>
        </p:txBody>
      </p:sp>
    </p:spTree>
    <p:extLst>
      <p:ext uri="{BB962C8B-B14F-4D97-AF65-F5344CB8AC3E}">
        <p14:creationId xmlns:p14="http://schemas.microsoft.com/office/powerpoint/2010/main" val="22758731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32289" y="87998"/>
            <a:ext cx="6491654" cy="646331"/>
          </a:xfrm>
        </p:spPr>
        <p:txBody>
          <a:bodyPr/>
          <a:lstStyle/>
          <a:p>
            <a:r>
              <a:rPr lang="tr-TR" sz="1200" dirty="0"/>
              <a:t>METRISO 1000D ÖLÇÜM CİHAZINI </a:t>
            </a:r>
            <a:br>
              <a:rPr lang="tr-TR" sz="1200" dirty="0"/>
            </a:br>
            <a:r>
              <a:rPr lang="tr-TR" sz="1200" dirty="0"/>
              <a:t>JENERATÖR TOPRAK KAÇAĞI ARIZASINDA</a:t>
            </a:r>
            <a:br>
              <a:rPr lang="tr-TR" sz="1200" dirty="0"/>
            </a:br>
            <a:r>
              <a:rPr lang="tr-TR" sz="1200" dirty="0"/>
              <a:t>KULLANMA TALİMATI</a:t>
            </a:r>
            <a:endParaRPr lang="en-US" sz="1200" dirty="0"/>
          </a:p>
        </p:txBody>
      </p:sp>
      <p:grpSp>
        <p:nvGrpSpPr>
          <p:cNvPr id="16" name="Grup 15"/>
          <p:cNvGrpSpPr/>
          <p:nvPr/>
        </p:nvGrpSpPr>
        <p:grpSpPr>
          <a:xfrm>
            <a:off x="548186" y="3016855"/>
            <a:ext cx="3816424" cy="2775244"/>
            <a:chOff x="5189290" y="2943198"/>
            <a:chExt cx="3816424" cy="2775244"/>
          </a:xfrm>
        </p:grpSpPr>
        <p:pic>
          <p:nvPicPr>
            <p:cNvPr id="1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0141" y="2943198"/>
              <a:ext cx="3346288" cy="2502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Metin kutusu 17"/>
            <p:cNvSpPr txBox="1"/>
            <p:nvPr/>
          </p:nvSpPr>
          <p:spPr>
            <a:xfrm>
              <a:off x="5189290" y="5472221"/>
              <a:ext cx="3816424" cy="246221"/>
            </a:xfrm>
            <a:prstGeom prst="rect">
              <a:avLst/>
            </a:prstGeom>
            <a:noFill/>
          </p:spPr>
          <p:txBody>
            <a:bodyPr wrap="square" rtlCol="0">
              <a:spAutoFit/>
            </a:bodyPr>
            <a:lstStyle/>
            <a:p>
              <a:pPr algn="ctr"/>
              <a:r>
                <a:rPr lang="tr-TR" sz="1000" b="1" i="1" dirty="0" smtClean="0"/>
                <a:t>Resim 9. Yıldız Bağlantı Noktaları</a:t>
              </a:r>
              <a:endParaRPr lang="tr-TR" sz="1000" b="1" i="1" dirty="0"/>
            </a:p>
          </p:txBody>
        </p:sp>
      </p:grpSp>
      <p:sp>
        <p:nvSpPr>
          <p:cNvPr id="19" name="Metin kutusu 18"/>
          <p:cNvSpPr txBox="1"/>
          <p:nvPr/>
        </p:nvSpPr>
        <p:spPr>
          <a:xfrm>
            <a:off x="543994" y="836712"/>
            <a:ext cx="4670703" cy="1569660"/>
          </a:xfrm>
          <a:prstGeom prst="rect">
            <a:avLst/>
          </a:prstGeom>
          <a:noFill/>
        </p:spPr>
        <p:txBody>
          <a:bodyPr wrap="square" rtlCol="0">
            <a:spAutoFit/>
          </a:bodyPr>
          <a:lstStyle/>
          <a:p>
            <a:pPr marL="342900" indent="-342900">
              <a:buFont typeface="Arial" pitchFamily="34" charset="0"/>
              <a:buChar char="•"/>
            </a:pPr>
            <a:r>
              <a:rPr lang="tr-TR" sz="1600" dirty="0"/>
              <a:t>«</a:t>
            </a:r>
            <a:r>
              <a:rPr lang="tr-TR" sz="1600" dirty="0" err="1"/>
              <a:t>Overvoltage</a:t>
            </a:r>
            <a:r>
              <a:rPr lang="tr-TR" sz="1600" dirty="0"/>
              <a:t> </a:t>
            </a:r>
            <a:r>
              <a:rPr lang="tr-TR" sz="1600" dirty="0" err="1"/>
              <a:t>protection</a:t>
            </a:r>
            <a:r>
              <a:rPr lang="tr-TR" sz="1600" dirty="0"/>
              <a:t> </a:t>
            </a:r>
            <a:r>
              <a:rPr lang="tr-TR" sz="1600" dirty="0" err="1"/>
              <a:t>box</a:t>
            </a:r>
            <a:r>
              <a:rPr lang="tr-TR" sz="1600" dirty="0"/>
              <a:t>» içerisinden bütün Sistem 1 ve Sistem 2 kabloları ayırılır ve izolasyonları </a:t>
            </a:r>
            <a:r>
              <a:rPr lang="tr-TR" sz="1600" dirty="0" smtClean="0"/>
              <a:t>yapılır (</a:t>
            </a:r>
            <a:r>
              <a:rPr lang="tr-TR" sz="1600" i="1" dirty="0" smtClean="0"/>
              <a:t>bkz. Resim 8</a:t>
            </a:r>
            <a:r>
              <a:rPr lang="tr-TR" sz="1600" dirty="0" smtClean="0"/>
              <a:t>).</a:t>
            </a:r>
          </a:p>
          <a:p>
            <a:pPr marL="342900" indent="-342900">
              <a:buFont typeface="Arial" pitchFamily="34" charset="0"/>
              <a:buChar char="•"/>
            </a:pPr>
            <a:endParaRPr lang="tr-TR" sz="1600" dirty="0" smtClean="0"/>
          </a:p>
          <a:p>
            <a:pPr marL="342900" indent="-342900">
              <a:buFont typeface="Arial" pitchFamily="34" charset="0"/>
              <a:buChar char="•"/>
            </a:pPr>
            <a:r>
              <a:rPr lang="tr-TR" sz="1600" dirty="0" smtClean="0"/>
              <a:t>Jeneratörün yıldız bağlantı noktaları ayırarak, izolasyonunu yapılır (</a:t>
            </a:r>
            <a:r>
              <a:rPr lang="tr-TR" sz="1600" i="1" dirty="0" smtClean="0"/>
              <a:t>bkz. Resim </a:t>
            </a:r>
            <a:r>
              <a:rPr lang="tr-TR" sz="1600" i="1" dirty="0"/>
              <a:t>9</a:t>
            </a:r>
            <a:r>
              <a:rPr lang="tr-TR" sz="1600" dirty="0" smtClean="0"/>
              <a:t>).</a:t>
            </a:r>
          </a:p>
        </p:txBody>
      </p:sp>
      <p:sp>
        <p:nvSpPr>
          <p:cNvPr id="4" name="Slayt Numarası Yer Tutucusu 3"/>
          <p:cNvSpPr>
            <a:spLocks noGrp="1"/>
          </p:cNvSpPr>
          <p:nvPr>
            <p:ph type="sldNum" sz="quarter" idx="10"/>
          </p:nvPr>
        </p:nvSpPr>
        <p:spPr/>
        <p:txBody>
          <a:bodyPr/>
          <a:lstStyle/>
          <a:p>
            <a:fld id="{EE2D904C-8DCD-43D7-A8F3-EC54D0513CE7}" type="slidenum">
              <a:rPr lang="de-DE" smtClean="0"/>
              <a:pPr/>
              <a:t>8</a:t>
            </a:fld>
            <a:endParaRPr lang="de-DE"/>
          </a:p>
        </p:txBody>
      </p:sp>
      <p:sp>
        <p:nvSpPr>
          <p:cNvPr id="13" name="İçerik Yer Tutucusu 2"/>
          <p:cNvSpPr txBox="1">
            <a:spLocks/>
          </p:cNvSpPr>
          <p:nvPr/>
        </p:nvSpPr>
        <p:spPr>
          <a:xfrm>
            <a:off x="-19384" y="6370844"/>
            <a:ext cx="7400888" cy="3512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tr-TR" sz="800" i="1" dirty="0" smtClean="0"/>
              <a:t>Bu doküman bilgi amaçlıdır. Yetkili olmayan kişiler tarafından </a:t>
            </a:r>
            <a:r>
              <a:rPr lang="tr-TR" sz="800" b="1" i="1" dirty="0" smtClean="0"/>
              <a:t>kesinlikle</a:t>
            </a:r>
            <a:r>
              <a:rPr lang="tr-TR" sz="800" i="1" dirty="0" smtClean="0"/>
              <a:t> uygulamaya geçilmemelidir.</a:t>
            </a:r>
          </a:p>
          <a:p>
            <a:pPr marL="0" indent="0">
              <a:buNone/>
            </a:pPr>
            <a:endParaRPr lang="tr-TR" sz="800" i="1" dirty="0"/>
          </a:p>
        </p:txBody>
      </p:sp>
      <p:grpSp>
        <p:nvGrpSpPr>
          <p:cNvPr id="6" name="Grup 5"/>
          <p:cNvGrpSpPr/>
          <p:nvPr/>
        </p:nvGrpSpPr>
        <p:grpSpPr>
          <a:xfrm>
            <a:off x="4860032" y="753884"/>
            <a:ext cx="4048125" cy="5412335"/>
            <a:chOff x="4860032" y="753884"/>
            <a:chExt cx="4048125" cy="5412335"/>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032" y="3195831"/>
              <a:ext cx="4048125"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8244" y="753884"/>
              <a:ext cx="217170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Metin kutusu 10"/>
            <p:cNvSpPr txBox="1"/>
            <p:nvPr/>
          </p:nvSpPr>
          <p:spPr>
            <a:xfrm>
              <a:off x="4975882" y="5919998"/>
              <a:ext cx="3816424" cy="246221"/>
            </a:xfrm>
            <a:prstGeom prst="rect">
              <a:avLst/>
            </a:prstGeom>
            <a:noFill/>
          </p:spPr>
          <p:txBody>
            <a:bodyPr wrap="square" rtlCol="0">
              <a:spAutoFit/>
            </a:bodyPr>
            <a:lstStyle/>
            <a:p>
              <a:pPr algn="ctr"/>
              <a:r>
                <a:rPr lang="tr-TR" sz="1000" b="1" i="1" dirty="0" smtClean="0"/>
                <a:t>Resim 8. </a:t>
              </a:r>
              <a:r>
                <a:rPr lang="tr-TR" sz="1000" b="1" i="1" dirty="0" err="1" smtClean="0"/>
                <a:t>Overvoltage</a:t>
              </a:r>
              <a:r>
                <a:rPr lang="tr-TR" sz="1000" b="1" i="1" dirty="0" smtClean="0"/>
                <a:t> </a:t>
              </a:r>
              <a:r>
                <a:rPr lang="tr-TR" sz="1000" b="1" i="1" dirty="0" err="1" smtClean="0"/>
                <a:t>Protection</a:t>
              </a:r>
              <a:r>
                <a:rPr lang="tr-TR" sz="1000" b="1" i="1" dirty="0" smtClean="0"/>
                <a:t> Box</a:t>
              </a:r>
              <a:endParaRPr lang="tr-TR" sz="1000" b="1" i="1" dirty="0"/>
            </a:p>
          </p:txBody>
        </p:sp>
        <p:cxnSp>
          <p:nvCxnSpPr>
            <p:cNvPr id="5" name="Düz Ok Bağlayıcısı 4"/>
            <p:cNvCxnSpPr/>
            <p:nvPr/>
          </p:nvCxnSpPr>
          <p:spPr>
            <a:xfrm>
              <a:off x="6884094" y="1772816"/>
              <a:ext cx="0" cy="1656184"/>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707735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571" t="3833" r="2437" b="8796"/>
          <a:stretch/>
        </p:blipFill>
        <p:spPr bwMode="auto">
          <a:xfrm>
            <a:off x="2699791" y="908720"/>
            <a:ext cx="6310783" cy="408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Başlık 11"/>
          <p:cNvSpPr>
            <a:spLocks noGrp="1"/>
          </p:cNvSpPr>
          <p:nvPr>
            <p:ph type="title"/>
          </p:nvPr>
        </p:nvSpPr>
        <p:spPr>
          <a:xfrm>
            <a:off x="432289" y="87998"/>
            <a:ext cx="6491654" cy="646331"/>
          </a:xfrm>
        </p:spPr>
        <p:txBody>
          <a:bodyPr/>
          <a:lstStyle/>
          <a:p>
            <a:r>
              <a:rPr lang="tr-TR" sz="1200" dirty="0"/>
              <a:t>METRISO 1000D ÖLÇÜM CİHAZINI </a:t>
            </a:r>
            <a:br>
              <a:rPr lang="tr-TR" sz="1200" dirty="0"/>
            </a:br>
            <a:r>
              <a:rPr lang="tr-TR" sz="1200" dirty="0"/>
              <a:t>JENERATÖR TOPRAK KAÇAĞI ARIZASINDA</a:t>
            </a:r>
            <a:br>
              <a:rPr lang="tr-TR" sz="1200" dirty="0"/>
            </a:br>
            <a:r>
              <a:rPr lang="tr-TR" sz="1200" dirty="0"/>
              <a:t>KULLANMA TALİMATI</a:t>
            </a:r>
            <a:endParaRPr lang="en-US" sz="1200" dirty="0"/>
          </a:p>
        </p:txBody>
      </p:sp>
      <p:sp>
        <p:nvSpPr>
          <p:cNvPr id="7" name="Metin kutusu 6"/>
          <p:cNvSpPr txBox="1"/>
          <p:nvPr/>
        </p:nvSpPr>
        <p:spPr>
          <a:xfrm>
            <a:off x="125388" y="2068393"/>
            <a:ext cx="2718420" cy="2308324"/>
          </a:xfrm>
          <a:prstGeom prst="rect">
            <a:avLst/>
          </a:prstGeom>
          <a:noFill/>
        </p:spPr>
        <p:txBody>
          <a:bodyPr wrap="square" rtlCol="0">
            <a:spAutoFit/>
          </a:bodyPr>
          <a:lstStyle/>
          <a:p>
            <a:pPr marL="342900" indent="-342900">
              <a:buAutoNum type="arabicParenBoth"/>
            </a:pPr>
            <a:r>
              <a:rPr lang="tr-TR" sz="1600" dirty="0" smtClean="0"/>
              <a:t>Ölçme düğmesi</a:t>
            </a:r>
          </a:p>
          <a:p>
            <a:endParaRPr lang="tr-TR" sz="1600" dirty="0" smtClean="0"/>
          </a:p>
          <a:p>
            <a:r>
              <a:rPr lang="tr-TR" sz="1600" dirty="0" smtClean="0"/>
              <a:t>(2) Direnç değeri otomatik ölçme</a:t>
            </a:r>
          </a:p>
          <a:p>
            <a:endParaRPr lang="tr-TR" sz="1600" dirty="0" smtClean="0"/>
          </a:p>
          <a:p>
            <a:r>
              <a:rPr lang="tr-TR" sz="1600" dirty="0" smtClean="0"/>
              <a:t>(3)</a:t>
            </a:r>
            <a:r>
              <a:rPr lang="tr-TR" sz="1600" dirty="0"/>
              <a:t> </a:t>
            </a:r>
            <a:r>
              <a:rPr lang="tr-TR" sz="1600" dirty="0" smtClean="0"/>
              <a:t>Direnç değeri manuel ölçme (UP)</a:t>
            </a:r>
          </a:p>
          <a:p>
            <a:endParaRPr lang="tr-TR" sz="1600" dirty="0" smtClean="0"/>
          </a:p>
          <a:p>
            <a:r>
              <a:rPr lang="tr-TR" sz="1600" dirty="0"/>
              <a:t>(</a:t>
            </a:r>
            <a:r>
              <a:rPr lang="tr-TR" sz="1600" dirty="0" smtClean="0"/>
              <a:t>7) Askılık Deliği</a:t>
            </a:r>
          </a:p>
        </p:txBody>
      </p:sp>
      <p:sp>
        <p:nvSpPr>
          <p:cNvPr id="2" name="Metin kutusu 1"/>
          <p:cNvSpPr txBox="1"/>
          <p:nvPr/>
        </p:nvSpPr>
        <p:spPr>
          <a:xfrm>
            <a:off x="1799691" y="4997071"/>
            <a:ext cx="1800200" cy="830997"/>
          </a:xfrm>
          <a:prstGeom prst="rect">
            <a:avLst/>
          </a:prstGeom>
          <a:noFill/>
        </p:spPr>
        <p:txBody>
          <a:bodyPr wrap="square" rtlCol="0">
            <a:spAutoFit/>
          </a:bodyPr>
          <a:lstStyle/>
          <a:p>
            <a:pPr algn="ctr"/>
            <a:r>
              <a:rPr lang="tr-TR" sz="1600" dirty="0" smtClean="0"/>
              <a:t>(4) </a:t>
            </a:r>
            <a:r>
              <a:rPr lang="tr-TR" sz="1600" dirty="0"/>
              <a:t>Direnç değeri manuel ölçme (DOWN</a:t>
            </a:r>
            <a:r>
              <a:rPr lang="tr-TR" sz="1600" dirty="0" smtClean="0"/>
              <a:t>)</a:t>
            </a:r>
            <a:endParaRPr lang="tr-TR" sz="1600" dirty="0"/>
          </a:p>
        </p:txBody>
      </p:sp>
      <p:sp>
        <p:nvSpPr>
          <p:cNvPr id="3" name="Metin kutusu 2"/>
          <p:cNvSpPr txBox="1"/>
          <p:nvPr/>
        </p:nvSpPr>
        <p:spPr>
          <a:xfrm>
            <a:off x="3707904" y="4951953"/>
            <a:ext cx="1296144" cy="338554"/>
          </a:xfrm>
          <a:prstGeom prst="rect">
            <a:avLst/>
          </a:prstGeom>
          <a:noFill/>
        </p:spPr>
        <p:txBody>
          <a:bodyPr wrap="square" rtlCol="0">
            <a:spAutoFit/>
          </a:bodyPr>
          <a:lstStyle/>
          <a:p>
            <a:r>
              <a:rPr lang="tr-TR" sz="1600" dirty="0" smtClean="0"/>
              <a:t>(5) </a:t>
            </a:r>
            <a:r>
              <a:rPr lang="tr-TR" sz="1600" dirty="0" err="1" smtClean="0"/>
              <a:t>Display</a:t>
            </a:r>
            <a:endParaRPr lang="tr-TR" sz="1600" dirty="0"/>
          </a:p>
        </p:txBody>
      </p:sp>
      <p:sp>
        <p:nvSpPr>
          <p:cNvPr id="4" name="Metin kutusu 3"/>
          <p:cNvSpPr txBox="1"/>
          <p:nvPr/>
        </p:nvSpPr>
        <p:spPr>
          <a:xfrm>
            <a:off x="4796036" y="5025137"/>
            <a:ext cx="1568152" cy="830997"/>
          </a:xfrm>
          <a:prstGeom prst="rect">
            <a:avLst/>
          </a:prstGeom>
          <a:noFill/>
        </p:spPr>
        <p:txBody>
          <a:bodyPr wrap="square" rtlCol="0">
            <a:spAutoFit/>
          </a:bodyPr>
          <a:lstStyle/>
          <a:p>
            <a:pPr algn="ctr"/>
            <a:r>
              <a:rPr lang="tr-TR" sz="1600" dirty="0" smtClean="0"/>
              <a:t>(6) Ölçme </a:t>
            </a:r>
            <a:r>
              <a:rPr lang="tr-TR" sz="1600" dirty="0"/>
              <a:t>birimi seçme </a:t>
            </a:r>
            <a:r>
              <a:rPr lang="tr-TR" sz="1600" dirty="0" smtClean="0"/>
              <a:t>komütatörü</a:t>
            </a:r>
            <a:endParaRPr lang="tr-TR" sz="1600" dirty="0"/>
          </a:p>
        </p:txBody>
      </p:sp>
      <p:sp>
        <p:nvSpPr>
          <p:cNvPr id="5" name="Metin kutusu 4"/>
          <p:cNvSpPr txBox="1"/>
          <p:nvPr/>
        </p:nvSpPr>
        <p:spPr>
          <a:xfrm>
            <a:off x="5580112" y="4581573"/>
            <a:ext cx="1224136" cy="584775"/>
          </a:xfrm>
          <a:prstGeom prst="rect">
            <a:avLst/>
          </a:prstGeom>
          <a:noFill/>
        </p:spPr>
        <p:txBody>
          <a:bodyPr wrap="square" rtlCol="0">
            <a:spAutoFit/>
          </a:bodyPr>
          <a:lstStyle/>
          <a:p>
            <a:pPr algn="ctr"/>
            <a:r>
              <a:rPr lang="tr-TR" sz="1600" dirty="0" smtClean="0"/>
              <a:t>(7) Askılık deliği</a:t>
            </a:r>
            <a:endParaRPr lang="tr-TR" sz="1600" dirty="0"/>
          </a:p>
        </p:txBody>
      </p:sp>
      <p:sp>
        <p:nvSpPr>
          <p:cNvPr id="8" name="Metin kutusu 7"/>
          <p:cNvSpPr txBox="1"/>
          <p:nvPr/>
        </p:nvSpPr>
        <p:spPr>
          <a:xfrm>
            <a:off x="6588224" y="4986758"/>
            <a:ext cx="1152128" cy="830997"/>
          </a:xfrm>
          <a:prstGeom prst="rect">
            <a:avLst/>
          </a:prstGeom>
          <a:noFill/>
        </p:spPr>
        <p:txBody>
          <a:bodyPr wrap="square" rtlCol="0">
            <a:spAutoFit/>
          </a:bodyPr>
          <a:lstStyle/>
          <a:p>
            <a:pPr algn="ctr"/>
            <a:r>
              <a:rPr lang="tr-TR" sz="1600" dirty="0" smtClean="0"/>
              <a:t>(9) Canlı </a:t>
            </a:r>
            <a:r>
              <a:rPr lang="tr-TR" sz="1600" dirty="0"/>
              <a:t>uç ölçme </a:t>
            </a:r>
            <a:r>
              <a:rPr lang="tr-TR" sz="1600" dirty="0" err="1" smtClean="0"/>
              <a:t>probu</a:t>
            </a:r>
            <a:endParaRPr lang="tr-TR" sz="1600" dirty="0"/>
          </a:p>
        </p:txBody>
      </p:sp>
      <p:sp>
        <p:nvSpPr>
          <p:cNvPr id="9" name="Metin kutusu 8"/>
          <p:cNvSpPr txBox="1"/>
          <p:nvPr/>
        </p:nvSpPr>
        <p:spPr>
          <a:xfrm>
            <a:off x="7524328" y="4986758"/>
            <a:ext cx="1156321" cy="830997"/>
          </a:xfrm>
          <a:prstGeom prst="rect">
            <a:avLst/>
          </a:prstGeom>
          <a:noFill/>
        </p:spPr>
        <p:txBody>
          <a:bodyPr wrap="square" rtlCol="0">
            <a:spAutoFit/>
          </a:bodyPr>
          <a:lstStyle/>
          <a:p>
            <a:pPr algn="ctr"/>
            <a:r>
              <a:rPr lang="tr-TR" sz="1600" dirty="0" smtClean="0"/>
              <a:t>(8) El </a:t>
            </a:r>
            <a:r>
              <a:rPr lang="tr-TR" sz="1600" dirty="0"/>
              <a:t>tipi ölçme </a:t>
            </a:r>
            <a:r>
              <a:rPr lang="tr-TR" sz="1600" dirty="0" smtClean="0"/>
              <a:t>düğmesi</a:t>
            </a:r>
            <a:endParaRPr lang="tr-TR" sz="1600" dirty="0"/>
          </a:p>
        </p:txBody>
      </p:sp>
      <p:sp>
        <p:nvSpPr>
          <p:cNvPr id="14" name="Metin kutusu 13"/>
          <p:cNvSpPr txBox="1"/>
          <p:nvPr/>
        </p:nvSpPr>
        <p:spPr>
          <a:xfrm>
            <a:off x="6859214" y="5828068"/>
            <a:ext cx="2284786" cy="584775"/>
          </a:xfrm>
          <a:prstGeom prst="rect">
            <a:avLst/>
          </a:prstGeom>
          <a:noFill/>
        </p:spPr>
        <p:txBody>
          <a:bodyPr wrap="square" rtlCol="0">
            <a:spAutoFit/>
          </a:bodyPr>
          <a:lstStyle/>
          <a:p>
            <a:pPr algn="ctr"/>
            <a:r>
              <a:rPr lang="tr-TR" sz="1600" dirty="0" smtClean="0"/>
              <a:t>(10) Şase </a:t>
            </a:r>
            <a:r>
              <a:rPr lang="tr-TR" sz="1600" dirty="0"/>
              <a:t>yada toprak ölçme </a:t>
            </a:r>
            <a:r>
              <a:rPr lang="tr-TR" sz="1600" dirty="0" err="1" smtClean="0"/>
              <a:t>probu</a:t>
            </a:r>
            <a:endParaRPr lang="tr-TR" sz="1600" dirty="0"/>
          </a:p>
        </p:txBody>
      </p:sp>
      <p:sp>
        <p:nvSpPr>
          <p:cNvPr id="15" name="Metin kutusu 14"/>
          <p:cNvSpPr txBox="1"/>
          <p:nvPr/>
        </p:nvSpPr>
        <p:spPr>
          <a:xfrm>
            <a:off x="9864" y="692696"/>
            <a:ext cx="6348064" cy="646331"/>
          </a:xfrm>
          <a:prstGeom prst="rect">
            <a:avLst/>
          </a:prstGeom>
          <a:noFill/>
        </p:spPr>
        <p:txBody>
          <a:bodyPr wrap="square" rtlCol="0">
            <a:spAutoFit/>
          </a:bodyPr>
          <a:lstStyle/>
          <a:p>
            <a:r>
              <a:rPr lang="tr-TR" b="1" dirty="0"/>
              <a:t>4</a:t>
            </a:r>
            <a:r>
              <a:rPr lang="tr-TR" b="1" dirty="0" smtClean="0"/>
              <a:t>. METRISO 1000D Ölçüm Cihazı</a:t>
            </a:r>
            <a:endParaRPr lang="tr-TR" b="1" dirty="0"/>
          </a:p>
          <a:p>
            <a:r>
              <a:rPr lang="tr-TR" b="1" dirty="0"/>
              <a:t>	4</a:t>
            </a:r>
            <a:r>
              <a:rPr lang="tr-TR" b="1" dirty="0" smtClean="0"/>
              <a:t>.1. Cihazın Tanıtımı</a:t>
            </a:r>
            <a:endParaRPr lang="tr-TR" b="1" dirty="0"/>
          </a:p>
        </p:txBody>
      </p:sp>
      <p:sp>
        <p:nvSpPr>
          <p:cNvPr id="10" name="Slayt Numarası Yer Tutucusu 9"/>
          <p:cNvSpPr>
            <a:spLocks noGrp="1"/>
          </p:cNvSpPr>
          <p:nvPr>
            <p:ph type="sldNum" sz="quarter" idx="10"/>
          </p:nvPr>
        </p:nvSpPr>
        <p:spPr/>
        <p:txBody>
          <a:bodyPr/>
          <a:lstStyle/>
          <a:p>
            <a:fld id="{EE2D904C-8DCD-43D7-A8F3-EC54D0513CE7}" type="slidenum">
              <a:rPr lang="de-DE" smtClean="0"/>
              <a:pPr/>
              <a:t>9</a:t>
            </a:fld>
            <a:endParaRPr lang="de-DE"/>
          </a:p>
        </p:txBody>
      </p:sp>
      <p:sp>
        <p:nvSpPr>
          <p:cNvPr id="16" name="İçerik Yer Tutucusu 2"/>
          <p:cNvSpPr txBox="1">
            <a:spLocks/>
          </p:cNvSpPr>
          <p:nvPr/>
        </p:nvSpPr>
        <p:spPr>
          <a:xfrm>
            <a:off x="-19384" y="6370844"/>
            <a:ext cx="7400888" cy="3512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tr-TR" sz="800" i="1" dirty="0" smtClean="0"/>
              <a:t>Bu doküman bilgi amaçlıdır. Yetkili olmayan kişiler tarafından </a:t>
            </a:r>
            <a:r>
              <a:rPr lang="tr-TR" sz="800" b="1" i="1" dirty="0" smtClean="0"/>
              <a:t>kesinlikle</a:t>
            </a:r>
            <a:r>
              <a:rPr lang="tr-TR" sz="800" i="1" dirty="0" smtClean="0"/>
              <a:t> uygulamaya geçilmemelidir.</a:t>
            </a:r>
          </a:p>
          <a:p>
            <a:pPr marL="0" indent="0">
              <a:buNone/>
            </a:pPr>
            <a:endParaRPr lang="tr-TR" sz="800" i="1" dirty="0"/>
          </a:p>
        </p:txBody>
      </p:sp>
      <p:sp>
        <p:nvSpPr>
          <p:cNvPr id="17" name="Metin kutusu 16"/>
          <p:cNvSpPr txBox="1"/>
          <p:nvPr/>
        </p:nvSpPr>
        <p:spPr>
          <a:xfrm>
            <a:off x="2339044" y="4497324"/>
            <a:ext cx="2684032" cy="246221"/>
          </a:xfrm>
          <a:prstGeom prst="rect">
            <a:avLst/>
          </a:prstGeom>
          <a:noFill/>
        </p:spPr>
        <p:txBody>
          <a:bodyPr wrap="square" rtlCol="0">
            <a:spAutoFit/>
          </a:bodyPr>
          <a:lstStyle/>
          <a:p>
            <a:pPr algn="ctr"/>
            <a:r>
              <a:rPr lang="tr-TR" sz="1000" b="1" i="1" dirty="0" smtClean="0"/>
              <a:t>Resim 10. </a:t>
            </a:r>
            <a:r>
              <a:rPr lang="tr-TR" sz="1000" b="1" i="1" dirty="0" err="1" smtClean="0"/>
              <a:t>Metriso</a:t>
            </a:r>
            <a:r>
              <a:rPr lang="tr-TR" sz="1000" b="1" i="1" dirty="0" smtClean="0"/>
              <a:t> 1000D </a:t>
            </a:r>
            <a:r>
              <a:rPr lang="tr-TR" sz="1000" b="1" i="1" dirty="0"/>
              <a:t> </a:t>
            </a:r>
            <a:r>
              <a:rPr lang="tr-TR" sz="1000" b="1" i="1" dirty="0" smtClean="0"/>
              <a:t>Ölçüm Cihazı</a:t>
            </a:r>
            <a:endParaRPr lang="tr-TR" sz="1000" b="1" i="1" dirty="0"/>
          </a:p>
        </p:txBody>
      </p:sp>
    </p:spTree>
    <p:extLst>
      <p:ext uri="{BB962C8B-B14F-4D97-AF65-F5344CB8AC3E}">
        <p14:creationId xmlns:p14="http://schemas.microsoft.com/office/powerpoint/2010/main" val="6068890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32289" y="87998"/>
            <a:ext cx="6491654" cy="646331"/>
          </a:xfrm>
        </p:spPr>
        <p:txBody>
          <a:bodyPr/>
          <a:lstStyle/>
          <a:p>
            <a:r>
              <a:rPr lang="tr-TR" sz="1200" dirty="0"/>
              <a:t>METRISO 1000D ÖLÇÜM CİHAZINI </a:t>
            </a:r>
            <a:br>
              <a:rPr lang="tr-TR" sz="1200" dirty="0"/>
            </a:br>
            <a:r>
              <a:rPr lang="tr-TR" sz="1200" dirty="0"/>
              <a:t>JENERATÖR TOPRAK KAÇAĞI ARIZASINDA</a:t>
            </a:r>
            <a:br>
              <a:rPr lang="tr-TR" sz="1200" dirty="0"/>
            </a:br>
            <a:r>
              <a:rPr lang="tr-TR" sz="1200" dirty="0"/>
              <a:t>KULLANMA TALİMATI</a:t>
            </a:r>
            <a:endParaRPr lang="en-US" sz="1200" dirty="0"/>
          </a:p>
        </p:txBody>
      </p:sp>
      <p:sp>
        <p:nvSpPr>
          <p:cNvPr id="12" name="Metin kutusu 11"/>
          <p:cNvSpPr txBox="1"/>
          <p:nvPr/>
        </p:nvSpPr>
        <p:spPr>
          <a:xfrm>
            <a:off x="422500" y="1134036"/>
            <a:ext cx="8253956" cy="830997"/>
          </a:xfrm>
          <a:prstGeom prst="rect">
            <a:avLst/>
          </a:prstGeom>
          <a:noFill/>
        </p:spPr>
        <p:txBody>
          <a:bodyPr wrap="square" rtlCol="0">
            <a:spAutoFit/>
          </a:bodyPr>
          <a:lstStyle/>
          <a:p>
            <a:r>
              <a:rPr lang="tr-TR" sz="1600" dirty="0" smtClean="0"/>
              <a:t>	Sistem 1 ve Sistem 2’den ayrılan </a:t>
            </a:r>
            <a:r>
              <a:rPr lang="tr-TR" sz="1600" dirty="0"/>
              <a:t>j</a:t>
            </a:r>
            <a:r>
              <a:rPr lang="tr-TR" sz="1600" dirty="0" smtClean="0"/>
              <a:t>eneratör kablolarının, tek tek izolasyonları açılarak, toprakla ve kendi aralarında  her bir fazın kısa devre kontrolü METRISO 1000 D cihazı ile yapılır.</a:t>
            </a:r>
          </a:p>
        </p:txBody>
      </p:sp>
      <p:sp>
        <p:nvSpPr>
          <p:cNvPr id="5" name="Metin kutusu 4"/>
          <p:cNvSpPr txBox="1"/>
          <p:nvPr/>
        </p:nvSpPr>
        <p:spPr>
          <a:xfrm>
            <a:off x="-126001" y="764704"/>
            <a:ext cx="9134136" cy="369332"/>
          </a:xfrm>
          <a:prstGeom prst="rect">
            <a:avLst/>
          </a:prstGeom>
          <a:noFill/>
        </p:spPr>
        <p:txBody>
          <a:bodyPr wrap="square" rtlCol="0">
            <a:spAutoFit/>
          </a:bodyPr>
          <a:lstStyle/>
          <a:p>
            <a:r>
              <a:rPr lang="tr-TR" b="1" dirty="0" smtClean="0"/>
              <a:t>	4.2. METRISO 1000D Cihazı ile Ölçüm</a:t>
            </a:r>
          </a:p>
        </p:txBody>
      </p:sp>
      <p:graphicFrame>
        <p:nvGraphicFramePr>
          <p:cNvPr id="14" name="Tablo 13"/>
          <p:cNvGraphicFramePr>
            <a:graphicFrameLocks noGrp="1"/>
          </p:cNvGraphicFramePr>
          <p:nvPr>
            <p:extLst>
              <p:ext uri="{D42A27DB-BD31-4B8C-83A1-F6EECF244321}">
                <p14:modId xmlns:p14="http://schemas.microsoft.com/office/powerpoint/2010/main" val="2843063603"/>
              </p:ext>
            </p:extLst>
          </p:nvPr>
        </p:nvGraphicFramePr>
        <p:xfrm>
          <a:off x="683568" y="1989689"/>
          <a:ext cx="8064896" cy="1074420"/>
        </p:xfrm>
        <a:graphic>
          <a:graphicData uri="http://schemas.openxmlformats.org/drawingml/2006/table">
            <a:tbl>
              <a:tblPr firstRow="1" firstCol="1" lastRow="1" lastCol="1" bandRow="1" bandCol="1">
                <a:tableStyleId>{5C22544A-7EE6-4342-B048-85BDC9FD1C3A}</a:tableStyleId>
              </a:tblPr>
              <a:tblGrid>
                <a:gridCol w="648072"/>
                <a:gridCol w="7416824"/>
              </a:tblGrid>
              <a:tr h="470342">
                <a:tc rowSpan="2">
                  <a:txBody>
                    <a:bodyPr/>
                    <a:lstStyle/>
                    <a:p>
                      <a:pPr algn="ctr">
                        <a:spcBef>
                          <a:spcPts val="1200"/>
                        </a:spcBef>
                        <a:spcAft>
                          <a:spcPts val="300"/>
                        </a:spcAft>
                      </a:pPr>
                      <a:endParaRPr lang="tr-TR" sz="1200" dirty="0">
                        <a:solidFill>
                          <a:schemeClr val="tx1"/>
                        </a:solidFill>
                        <a:effectLst/>
                        <a:latin typeface="Arial"/>
                        <a:ea typeface="Times New Roman"/>
                        <a:cs typeface="Times New Roman"/>
                      </a:endParaRPr>
                    </a:p>
                  </a:txBody>
                  <a:tcPr marL="17780" marR="17780" marT="0" marB="0">
                    <a:lnL w="12700" cmpd="sng">
                      <a:noFill/>
                    </a:lnL>
                    <a:lnR w="38100" cmpd="sng">
                      <a:noFill/>
                    </a:lnR>
                    <a:lnT w="38100" cmpd="sng">
                      <a:noFill/>
                    </a:lnT>
                    <a:lnB w="38100" cmpd="sng">
                      <a:noFill/>
                    </a:lnB>
                    <a:lnTlToBr w="12700" cmpd="sng">
                      <a:noFill/>
                      <a:prstDash val="solid"/>
                    </a:lnTlToBr>
                    <a:lnBlToTr w="12700" cmpd="sng">
                      <a:noFill/>
                      <a:prstDash val="solid"/>
                    </a:lnBlToTr>
                    <a:solidFill>
                      <a:schemeClr val="bg1">
                        <a:lumMod val="75000"/>
                      </a:schemeClr>
                    </a:solidFill>
                  </a:tcPr>
                </a:tc>
                <a:tc>
                  <a:txBody>
                    <a:bodyPr/>
                    <a:lstStyle/>
                    <a:p>
                      <a:pPr>
                        <a:spcBef>
                          <a:spcPts val="300"/>
                        </a:spcBef>
                        <a:spcAft>
                          <a:spcPts val="0"/>
                        </a:spcAft>
                        <a:tabLst>
                          <a:tab pos="457200" algn="l"/>
                        </a:tabLst>
                      </a:pPr>
                      <a:r>
                        <a:rPr lang="tr-TR" sz="1600" dirty="0" smtClean="0">
                          <a:solidFill>
                            <a:schemeClr val="tx1"/>
                          </a:solidFill>
                          <a:effectLst/>
                        </a:rPr>
                        <a:t>Uyarı!</a:t>
                      </a:r>
                    </a:p>
                    <a:p>
                      <a:pPr>
                        <a:spcBef>
                          <a:spcPts val="300"/>
                        </a:spcBef>
                        <a:spcAft>
                          <a:spcPts val="0"/>
                        </a:spcAft>
                        <a:tabLst>
                          <a:tab pos="457200" algn="l"/>
                        </a:tabLst>
                      </a:pPr>
                      <a:r>
                        <a:rPr lang="tr-TR" sz="1600" b="1" dirty="0" smtClean="0">
                          <a:solidFill>
                            <a:schemeClr val="tx1"/>
                          </a:solidFill>
                          <a:effectLst/>
                          <a:latin typeface="+mn-lt"/>
                          <a:ea typeface="Times New Roman"/>
                          <a:cs typeface="Times New Roman"/>
                        </a:rPr>
                        <a:t>Hayati</a:t>
                      </a:r>
                      <a:r>
                        <a:rPr lang="tr-TR" sz="1600" b="1" baseline="0" dirty="0" smtClean="0">
                          <a:solidFill>
                            <a:schemeClr val="tx1"/>
                          </a:solidFill>
                          <a:effectLst/>
                          <a:latin typeface="+mn-lt"/>
                          <a:ea typeface="Times New Roman"/>
                          <a:cs typeface="Times New Roman"/>
                        </a:rPr>
                        <a:t> tehlike</a:t>
                      </a:r>
                      <a:endParaRPr lang="en-US" sz="1600" b="1" dirty="0">
                        <a:solidFill>
                          <a:schemeClr val="tx1"/>
                        </a:solidFill>
                        <a:effectLst/>
                        <a:latin typeface="+mn-lt"/>
                        <a:ea typeface="Times New Roman"/>
                        <a:cs typeface="Times New Roman"/>
                      </a:endParaRPr>
                    </a:p>
                  </a:txBody>
                  <a:tcPr marL="17780" marR="17780" marT="0" marB="0">
                    <a:lnL w="381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schemeClr>
                    </a:solidFill>
                  </a:tcPr>
                </a:tc>
              </a:tr>
              <a:tr h="482332">
                <a:tc vMerge="1">
                  <a:txBody>
                    <a:bodyPr/>
                    <a:lstStyle/>
                    <a:p>
                      <a:endParaRPr lang="en-US"/>
                    </a:p>
                  </a:txBody>
                  <a:tcPr/>
                </a:tc>
                <a:tc>
                  <a:txBody>
                    <a:bodyPr/>
                    <a:lstStyle/>
                    <a:p>
                      <a:r>
                        <a:rPr lang="tr-TR" b="0" i="1" dirty="0" smtClean="0">
                          <a:solidFill>
                            <a:schemeClr val="tx1"/>
                          </a:solidFill>
                        </a:rPr>
                        <a:t>1000V 1mA</a:t>
                      </a:r>
                      <a:r>
                        <a:rPr lang="tr-TR" b="0" i="1" baseline="0" dirty="0" smtClean="0">
                          <a:solidFill>
                            <a:schemeClr val="tx1"/>
                          </a:solidFill>
                        </a:rPr>
                        <a:t> </a:t>
                      </a:r>
                      <a:r>
                        <a:rPr lang="tr-TR" b="0" i="1" dirty="0" smtClean="0">
                          <a:solidFill>
                            <a:schemeClr val="tx1"/>
                          </a:solidFill>
                        </a:rPr>
                        <a:t>hayati tehlike arz etmektedir!</a:t>
                      </a:r>
                    </a:p>
                    <a:p>
                      <a:r>
                        <a:rPr lang="tr-TR" b="0" i="1" baseline="0" dirty="0" smtClean="0">
                          <a:solidFill>
                            <a:schemeClr val="tx1"/>
                          </a:solidFill>
                        </a:rPr>
                        <a:t>İzolasyonları açılmış kablolar ile yapılan işlemlerde dikkatli olunmalıdır.</a:t>
                      </a:r>
                      <a:endParaRPr lang="tr-TR" b="0" i="1" dirty="0" smtClean="0">
                        <a:solidFill>
                          <a:schemeClr val="tx1"/>
                        </a:solidFill>
                      </a:endParaRPr>
                    </a:p>
                  </a:txBody>
                  <a:tcPr marL="17780" marR="17780" marT="0" marB="0">
                    <a:lnL w="38100" cmpd="sng">
                      <a:noFill/>
                    </a:lnL>
                    <a:lnR w="12700" cmpd="sng">
                      <a:noFill/>
                    </a:lnR>
                    <a:lnT w="38100" cmpd="sng">
                      <a:noFill/>
                    </a:lnT>
                    <a:lnB w="38100" cmpd="sng">
                      <a:noFill/>
                    </a:lnB>
                    <a:lnTlToBr w="12700" cmpd="sng">
                      <a:noFill/>
                      <a:prstDash val="solid"/>
                    </a:lnTlToBr>
                    <a:lnBlToTr w="12700" cmpd="sng">
                      <a:noFill/>
                      <a:prstDash val="solid"/>
                    </a:lnBlToTr>
                    <a:solidFill>
                      <a:schemeClr val="bg1">
                        <a:lumMod val="75000"/>
                      </a:schemeClr>
                    </a:solidFill>
                  </a:tcPr>
                </a:tc>
              </a:tr>
            </a:tbl>
          </a:graphicData>
        </a:graphic>
      </p:graphicFrame>
      <p:pic>
        <p:nvPicPr>
          <p:cNvPr id="15" name="Picture 2"/>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708154" y="2060848"/>
            <a:ext cx="569554" cy="550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ayt Numarası Yer Tutucusu 3"/>
          <p:cNvSpPr>
            <a:spLocks noGrp="1"/>
          </p:cNvSpPr>
          <p:nvPr>
            <p:ph type="sldNum" sz="quarter" idx="10"/>
          </p:nvPr>
        </p:nvSpPr>
        <p:spPr/>
        <p:txBody>
          <a:bodyPr/>
          <a:lstStyle/>
          <a:p>
            <a:fld id="{EE2D904C-8DCD-43D7-A8F3-EC54D0513CE7}" type="slidenum">
              <a:rPr lang="de-DE" smtClean="0"/>
              <a:pPr/>
              <a:t>10</a:t>
            </a:fld>
            <a:endParaRPr lang="de-DE"/>
          </a:p>
        </p:txBody>
      </p:sp>
      <p:sp>
        <p:nvSpPr>
          <p:cNvPr id="13" name="İçerik Yer Tutucusu 2"/>
          <p:cNvSpPr txBox="1">
            <a:spLocks/>
          </p:cNvSpPr>
          <p:nvPr/>
        </p:nvSpPr>
        <p:spPr>
          <a:xfrm>
            <a:off x="-19384" y="6370844"/>
            <a:ext cx="7400888" cy="3512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tr-TR" sz="800" i="1" dirty="0" smtClean="0"/>
              <a:t>Bu doküman bilgi amaçlıdır. Yetkili olmayan kişiler tarafından </a:t>
            </a:r>
            <a:r>
              <a:rPr lang="tr-TR" sz="800" b="1" i="1" dirty="0" smtClean="0"/>
              <a:t>kesinlikle</a:t>
            </a:r>
            <a:r>
              <a:rPr lang="tr-TR" sz="800" i="1" dirty="0" smtClean="0"/>
              <a:t> uygulamaya geçilmemelidir.</a:t>
            </a:r>
          </a:p>
          <a:p>
            <a:pPr marL="0" indent="0">
              <a:buNone/>
            </a:pPr>
            <a:endParaRPr lang="tr-TR" sz="800" i="1" dirty="0"/>
          </a:p>
        </p:txBody>
      </p:sp>
      <p:grpSp>
        <p:nvGrpSpPr>
          <p:cNvPr id="20" name="Grup 19"/>
          <p:cNvGrpSpPr/>
          <p:nvPr/>
        </p:nvGrpSpPr>
        <p:grpSpPr>
          <a:xfrm>
            <a:off x="151822" y="3345823"/>
            <a:ext cx="2956284" cy="2094941"/>
            <a:chOff x="273952" y="927341"/>
            <a:chExt cx="2956284" cy="2094941"/>
          </a:xfrm>
        </p:grpSpPr>
        <p:grpSp>
          <p:nvGrpSpPr>
            <p:cNvPr id="21" name="Grup 20"/>
            <p:cNvGrpSpPr/>
            <p:nvPr/>
          </p:nvGrpSpPr>
          <p:grpSpPr>
            <a:xfrm>
              <a:off x="273952" y="927341"/>
              <a:ext cx="2956284" cy="1790700"/>
              <a:chOff x="607604" y="4292601"/>
              <a:chExt cx="2956284" cy="1790700"/>
            </a:xfrm>
          </p:grpSpPr>
          <p:pic>
            <p:nvPicPr>
              <p:cNvPr id="23"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2728" t="11092" b="19830"/>
              <a:stretch/>
            </p:blipFill>
            <p:spPr bwMode="auto">
              <a:xfrm>
                <a:off x="673100" y="4292601"/>
                <a:ext cx="2890788" cy="179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Dikdörtgen 23"/>
              <p:cNvSpPr/>
              <p:nvPr/>
            </p:nvSpPr>
            <p:spPr>
              <a:xfrm>
                <a:off x="2627784" y="4437112"/>
                <a:ext cx="936104" cy="2536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b="1" dirty="0" smtClean="0">
                    <a:solidFill>
                      <a:schemeClr val="tx1"/>
                    </a:solidFill>
                  </a:rPr>
                  <a:t>ÖLÇÜM UCU </a:t>
                </a:r>
                <a:endParaRPr lang="tr-TR" sz="1000" b="1" dirty="0">
                  <a:solidFill>
                    <a:schemeClr val="tx1"/>
                  </a:solidFill>
                </a:endParaRPr>
              </a:p>
            </p:txBody>
          </p:sp>
          <p:sp>
            <p:nvSpPr>
              <p:cNvPr id="25" name="Dikdörtgen 24"/>
              <p:cNvSpPr/>
              <p:nvPr/>
            </p:nvSpPr>
            <p:spPr>
              <a:xfrm>
                <a:off x="607604" y="4453103"/>
                <a:ext cx="936104" cy="2504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b="1" dirty="0" smtClean="0">
                    <a:solidFill>
                      <a:schemeClr val="tx1"/>
                    </a:solidFill>
                  </a:rPr>
                  <a:t>TOPRAK UCU  </a:t>
                </a:r>
                <a:endParaRPr lang="tr-TR" sz="1000" b="1" dirty="0">
                  <a:solidFill>
                    <a:schemeClr val="tx1"/>
                  </a:solidFill>
                </a:endParaRPr>
              </a:p>
            </p:txBody>
          </p:sp>
        </p:grpSp>
        <p:sp>
          <p:nvSpPr>
            <p:cNvPr id="22" name="Metin kutusu 21"/>
            <p:cNvSpPr txBox="1"/>
            <p:nvPr/>
          </p:nvSpPr>
          <p:spPr>
            <a:xfrm>
              <a:off x="442826" y="2776061"/>
              <a:ext cx="2684032" cy="246221"/>
            </a:xfrm>
            <a:prstGeom prst="rect">
              <a:avLst/>
            </a:prstGeom>
            <a:noFill/>
          </p:spPr>
          <p:txBody>
            <a:bodyPr wrap="square" rtlCol="0">
              <a:spAutoFit/>
            </a:bodyPr>
            <a:lstStyle/>
            <a:p>
              <a:pPr algn="ctr"/>
              <a:r>
                <a:rPr lang="tr-TR" sz="1000" b="1" i="1" dirty="0" smtClean="0"/>
                <a:t>Resim 11.  </a:t>
              </a:r>
              <a:r>
                <a:rPr lang="tr-TR" sz="1000" b="1" i="1" dirty="0" err="1" smtClean="0"/>
                <a:t>Metriso</a:t>
              </a:r>
              <a:r>
                <a:rPr lang="tr-TR" sz="1000" b="1" i="1" dirty="0" smtClean="0"/>
                <a:t> 1000D Ölçüm Uçları</a:t>
              </a:r>
              <a:endParaRPr lang="tr-TR" sz="1000" b="1" i="1" dirty="0"/>
            </a:p>
          </p:txBody>
        </p:sp>
      </p:grpSp>
      <p:sp>
        <p:nvSpPr>
          <p:cNvPr id="26" name="Dikdörtgen 25"/>
          <p:cNvSpPr/>
          <p:nvPr/>
        </p:nvSpPr>
        <p:spPr>
          <a:xfrm>
            <a:off x="3108106" y="3231523"/>
            <a:ext cx="6017142" cy="3139321"/>
          </a:xfrm>
          <a:prstGeom prst="rect">
            <a:avLst/>
          </a:prstGeom>
        </p:spPr>
        <p:txBody>
          <a:bodyPr wrap="square">
            <a:spAutoFit/>
          </a:bodyPr>
          <a:lstStyle/>
          <a:p>
            <a:pPr marL="285750" indent="-285750">
              <a:buFont typeface="Arial" pitchFamily="34" charset="0"/>
              <a:buChar char="•"/>
            </a:pPr>
            <a:r>
              <a:rPr lang="tr-TR" dirty="0" smtClean="0"/>
              <a:t>Cihazın </a:t>
            </a:r>
            <a:r>
              <a:rPr lang="tr-TR" dirty="0"/>
              <a:t>ölçüm ucu </a:t>
            </a:r>
            <a:r>
              <a:rPr lang="tr-TR" dirty="0" smtClean="0"/>
              <a:t>sargıya, toprak ucu da türbin </a:t>
            </a:r>
            <a:r>
              <a:rPr lang="tr-TR" dirty="0"/>
              <a:t>toprağına (PE) </a:t>
            </a:r>
            <a:r>
              <a:rPr lang="tr-TR" dirty="0" smtClean="0"/>
              <a:t>değdirilir (</a:t>
            </a:r>
            <a:r>
              <a:rPr lang="tr-TR" i="1" dirty="0" smtClean="0"/>
              <a:t>bkz. Resim 11</a:t>
            </a:r>
            <a:r>
              <a:rPr lang="tr-TR" dirty="0" smtClean="0"/>
              <a:t>)</a:t>
            </a:r>
          </a:p>
          <a:p>
            <a:pPr marL="285750" indent="-285750">
              <a:buFont typeface="Arial" pitchFamily="34" charset="0"/>
              <a:buChar char="•"/>
            </a:pPr>
            <a:r>
              <a:rPr lang="tr-TR" dirty="0"/>
              <a:t>C</a:t>
            </a:r>
            <a:r>
              <a:rPr lang="tr-TR" dirty="0" smtClean="0"/>
              <a:t>ihazının </a:t>
            </a:r>
            <a:r>
              <a:rPr lang="tr-TR" dirty="0" err="1" smtClean="0"/>
              <a:t>komutatörü</a:t>
            </a:r>
            <a:r>
              <a:rPr lang="tr-TR" dirty="0" smtClean="0"/>
              <a:t> «ISO» (izolasyon) </a:t>
            </a:r>
            <a:r>
              <a:rPr lang="el-GR" dirty="0" smtClean="0"/>
              <a:t>Ω</a:t>
            </a:r>
            <a:r>
              <a:rPr lang="tr-TR" dirty="0" smtClean="0"/>
              <a:t> konumunda 1000V konumuna alınır. </a:t>
            </a:r>
          </a:p>
          <a:p>
            <a:pPr marL="742950" lvl="1" indent="-285750">
              <a:buFont typeface="Arial" pitchFamily="34" charset="0"/>
              <a:buChar char="•"/>
            </a:pPr>
            <a:r>
              <a:rPr lang="tr-TR" dirty="0" smtClean="0"/>
              <a:t>Ölçüm </a:t>
            </a:r>
            <a:r>
              <a:rPr lang="tr-TR" dirty="0" err="1"/>
              <a:t>probunun</a:t>
            </a:r>
            <a:r>
              <a:rPr lang="tr-TR" dirty="0"/>
              <a:t> üstündeki düğmeye </a:t>
            </a:r>
            <a:r>
              <a:rPr lang="tr-TR" dirty="0" smtClean="0"/>
              <a:t>basılıp, sargıya 1000V uygulanır </a:t>
            </a:r>
            <a:r>
              <a:rPr lang="tr-TR" dirty="0"/>
              <a:t>ve ölçüm ekranında </a:t>
            </a:r>
            <a:r>
              <a:rPr lang="tr-TR" dirty="0" smtClean="0"/>
              <a:t>M</a:t>
            </a:r>
            <a:r>
              <a:rPr lang="el-GR" dirty="0"/>
              <a:t> Ω</a:t>
            </a:r>
            <a:r>
              <a:rPr lang="tr-TR" dirty="0" smtClean="0"/>
              <a:t> </a:t>
            </a:r>
            <a:r>
              <a:rPr lang="tr-TR" dirty="0"/>
              <a:t>görüldüğü taktirde </a:t>
            </a:r>
            <a:r>
              <a:rPr lang="tr-TR" b="1" dirty="0"/>
              <a:t>arıza yoktur. </a:t>
            </a:r>
            <a:endParaRPr lang="tr-TR" b="1" dirty="0" smtClean="0"/>
          </a:p>
          <a:p>
            <a:pPr marL="742950" lvl="1" indent="-285750">
              <a:buFont typeface="Arial" pitchFamily="34" charset="0"/>
              <a:buChar char="•"/>
            </a:pPr>
            <a:r>
              <a:rPr lang="tr-TR" dirty="0"/>
              <a:t>Ölçüm </a:t>
            </a:r>
            <a:r>
              <a:rPr lang="tr-TR" dirty="0" err="1"/>
              <a:t>probunun</a:t>
            </a:r>
            <a:r>
              <a:rPr lang="tr-TR" dirty="0"/>
              <a:t> üstündeki düğmeye basılıp, sargıya 1000V uygulanır ve </a:t>
            </a:r>
            <a:r>
              <a:rPr lang="tr-TR" dirty="0" smtClean="0"/>
              <a:t>ölçüm ekranında </a:t>
            </a:r>
            <a:r>
              <a:rPr lang="el-GR" dirty="0"/>
              <a:t>Ω</a:t>
            </a:r>
            <a:r>
              <a:rPr lang="tr-TR" dirty="0" smtClean="0"/>
              <a:t> veya </a:t>
            </a:r>
            <a:r>
              <a:rPr lang="tr-TR" dirty="0"/>
              <a:t>kısa devre görülürse o sargıda </a:t>
            </a:r>
            <a:r>
              <a:rPr lang="tr-TR" b="1" dirty="0" smtClean="0"/>
              <a:t>arıza </a:t>
            </a:r>
            <a:r>
              <a:rPr lang="tr-TR" b="1" dirty="0"/>
              <a:t>tespit edilmiştir</a:t>
            </a:r>
            <a:r>
              <a:rPr lang="tr-TR" b="1" dirty="0" smtClean="0"/>
              <a:t>.</a:t>
            </a:r>
            <a:endParaRPr lang="tr-TR" b="1" dirty="0"/>
          </a:p>
        </p:txBody>
      </p:sp>
    </p:spTree>
    <p:extLst>
      <p:ext uri="{BB962C8B-B14F-4D97-AF65-F5344CB8AC3E}">
        <p14:creationId xmlns:p14="http://schemas.microsoft.com/office/powerpoint/2010/main" val="19190995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aşlık 5"/>
          <p:cNvSpPr>
            <a:spLocks noGrp="1"/>
          </p:cNvSpPr>
          <p:nvPr>
            <p:ph type="title"/>
          </p:nvPr>
        </p:nvSpPr>
        <p:spPr>
          <a:xfrm>
            <a:off x="432289" y="87998"/>
            <a:ext cx="6491654" cy="646331"/>
          </a:xfrm>
        </p:spPr>
        <p:txBody>
          <a:bodyPr/>
          <a:lstStyle/>
          <a:p>
            <a:r>
              <a:rPr lang="tr-TR" sz="1200" dirty="0"/>
              <a:t>METRISO 1000D ÖLÇÜM CİHAZINI </a:t>
            </a:r>
            <a:br>
              <a:rPr lang="tr-TR" sz="1200" dirty="0"/>
            </a:br>
            <a:r>
              <a:rPr lang="tr-TR" sz="1200" dirty="0"/>
              <a:t>JENERATÖR TOPRAK KAÇAĞI ARIZASINDA</a:t>
            </a:r>
            <a:br>
              <a:rPr lang="tr-TR" sz="1200" dirty="0"/>
            </a:br>
            <a:r>
              <a:rPr lang="tr-TR" sz="1200" dirty="0"/>
              <a:t>KULLANMA TALİMATI</a:t>
            </a:r>
            <a:endParaRPr lang="en-US" sz="1200" dirty="0"/>
          </a:p>
        </p:txBody>
      </p:sp>
      <p:sp>
        <p:nvSpPr>
          <p:cNvPr id="4" name="Dikdörtgen 3"/>
          <p:cNvSpPr/>
          <p:nvPr/>
        </p:nvSpPr>
        <p:spPr>
          <a:xfrm>
            <a:off x="214194" y="836712"/>
            <a:ext cx="8631848" cy="4524315"/>
          </a:xfrm>
          <a:prstGeom prst="rect">
            <a:avLst/>
          </a:prstGeom>
        </p:spPr>
        <p:txBody>
          <a:bodyPr wrap="square">
            <a:spAutoFit/>
          </a:bodyPr>
          <a:lstStyle/>
          <a:p>
            <a:r>
              <a:rPr lang="tr-TR" dirty="0" smtClean="0"/>
              <a:t>Dikkat Edilecek Hususlar:</a:t>
            </a:r>
          </a:p>
          <a:p>
            <a:endParaRPr lang="tr-TR" dirty="0" smtClean="0"/>
          </a:p>
          <a:p>
            <a:pPr marL="342900" indent="-342900">
              <a:buAutoNum type="arabicPeriod"/>
            </a:pPr>
            <a:r>
              <a:rPr lang="tr-TR" dirty="0" err="1" smtClean="0"/>
              <a:t>System</a:t>
            </a:r>
            <a:r>
              <a:rPr lang="tr-TR" dirty="0" smtClean="0"/>
              <a:t> 1 ve </a:t>
            </a:r>
            <a:r>
              <a:rPr lang="tr-TR" dirty="0" err="1" smtClean="0"/>
              <a:t>System</a:t>
            </a:r>
            <a:r>
              <a:rPr lang="tr-TR" dirty="0" smtClean="0"/>
              <a:t> 2 ölçümleri </a:t>
            </a:r>
            <a:r>
              <a:rPr lang="tr-TR" dirty="0" err="1" smtClean="0"/>
              <a:t>generatör</a:t>
            </a:r>
            <a:r>
              <a:rPr lang="tr-TR" dirty="0" smtClean="0"/>
              <a:t> ıslaksa </a:t>
            </a:r>
            <a:r>
              <a:rPr lang="tr-TR" dirty="0" err="1" smtClean="0"/>
              <a:t>Kohm</a:t>
            </a:r>
            <a:r>
              <a:rPr lang="tr-TR" dirty="0" smtClean="0"/>
              <a:t> veya </a:t>
            </a:r>
            <a:r>
              <a:rPr lang="tr-TR" dirty="0" err="1" smtClean="0"/>
              <a:t>Ohm</a:t>
            </a:r>
            <a:r>
              <a:rPr lang="tr-TR" dirty="0" smtClean="0"/>
              <a:t> ; kuru ise </a:t>
            </a:r>
            <a:r>
              <a:rPr lang="tr-TR" dirty="0" err="1" smtClean="0"/>
              <a:t>Kohm</a:t>
            </a:r>
            <a:r>
              <a:rPr lang="tr-TR" dirty="0" smtClean="0"/>
              <a:t> veya </a:t>
            </a:r>
            <a:r>
              <a:rPr lang="tr-TR" dirty="0" err="1" smtClean="0"/>
              <a:t>Mohm</a:t>
            </a:r>
            <a:r>
              <a:rPr lang="tr-TR" dirty="0" smtClean="0"/>
              <a:t> olur.</a:t>
            </a:r>
          </a:p>
          <a:p>
            <a:pPr marL="342900" indent="-342900">
              <a:buAutoNum type="arabicPeriod"/>
            </a:pPr>
            <a:r>
              <a:rPr lang="tr-TR" dirty="0" err="1" smtClean="0"/>
              <a:t>System</a:t>
            </a:r>
            <a:r>
              <a:rPr lang="tr-TR" dirty="0" smtClean="0"/>
              <a:t> 1 – PE ve </a:t>
            </a:r>
            <a:r>
              <a:rPr lang="tr-TR" dirty="0" err="1" smtClean="0"/>
              <a:t>System</a:t>
            </a:r>
            <a:r>
              <a:rPr lang="tr-TR" dirty="0" smtClean="0"/>
              <a:t> 2 – PE izolasyon ölçüm değerleri eşit </a:t>
            </a:r>
            <a:r>
              <a:rPr lang="tr-TR" dirty="0" smtClean="0"/>
              <a:t>olmalı</a:t>
            </a:r>
          </a:p>
          <a:p>
            <a:pPr marL="342900" indent="-342900">
              <a:buAutoNum type="arabicPeriod"/>
            </a:pPr>
            <a:r>
              <a:rPr lang="tr-TR" dirty="0" err="1" smtClean="0"/>
              <a:t>System</a:t>
            </a:r>
            <a:r>
              <a:rPr lang="tr-TR" dirty="0" smtClean="0"/>
              <a:t> 1 -- 2  </a:t>
            </a:r>
            <a:r>
              <a:rPr lang="tr-TR" dirty="0" smtClean="0"/>
              <a:t>ölçüm değeri bunların iki katı olmalıdır.</a:t>
            </a:r>
          </a:p>
          <a:p>
            <a:pPr marL="342900" indent="-342900">
              <a:buAutoNum type="arabicPeriod"/>
            </a:pPr>
            <a:r>
              <a:rPr lang="tr-TR" dirty="0" smtClean="0"/>
              <a:t>Rotor ıslaksa «</a:t>
            </a:r>
            <a:r>
              <a:rPr lang="tr-TR" dirty="0" err="1" smtClean="0"/>
              <a:t>generator</a:t>
            </a:r>
            <a:r>
              <a:rPr lang="tr-TR" dirty="0" smtClean="0"/>
              <a:t> </a:t>
            </a:r>
            <a:r>
              <a:rPr lang="tr-TR" dirty="0" err="1" smtClean="0"/>
              <a:t>heating</a:t>
            </a:r>
            <a:r>
              <a:rPr lang="tr-TR" dirty="0" smtClean="0"/>
              <a:t>» yapılmaz. İlave ısıtıcılarla rotor kurutulması gerekir.</a:t>
            </a:r>
          </a:p>
          <a:p>
            <a:pPr marL="342900" indent="-342900">
              <a:buAutoNum type="arabicPeriod"/>
            </a:pPr>
            <a:r>
              <a:rPr lang="tr-TR" dirty="0" smtClean="0"/>
              <a:t>«</a:t>
            </a:r>
            <a:r>
              <a:rPr lang="tr-TR" dirty="0" err="1" smtClean="0"/>
              <a:t>Generator</a:t>
            </a:r>
            <a:r>
              <a:rPr lang="tr-TR" dirty="0" smtClean="0"/>
              <a:t> </a:t>
            </a:r>
            <a:r>
              <a:rPr lang="tr-TR" dirty="0" err="1" smtClean="0"/>
              <a:t>Sealing</a:t>
            </a:r>
            <a:r>
              <a:rPr lang="tr-TR" dirty="0" smtClean="0"/>
              <a:t>»(Jeneratör Yalıtımı) işlemi türbini dış etkenlerden (nem, yağmur, kar suyu </a:t>
            </a:r>
            <a:r>
              <a:rPr lang="tr-TR" dirty="0" err="1" smtClean="0"/>
              <a:t>v.b</a:t>
            </a:r>
            <a:r>
              <a:rPr lang="tr-TR" dirty="0" smtClean="0"/>
              <a:t>.) korumaya yardımcı olduğu için dikkat edilmelidir. </a:t>
            </a:r>
          </a:p>
          <a:p>
            <a:pPr marL="342900" indent="-342900">
              <a:buFontTx/>
              <a:buAutoNum type="arabicPeriod"/>
            </a:pPr>
            <a:r>
              <a:rPr lang="tr-TR" dirty="0" smtClean="0"/>
              <a:t>«</a:t>
            </a:r>
            <a:r>
              <a:rPr lang="tr-TR" dirty="0" err="1" smtClean="0"/>
              <a:t>Nacelle</a:t>
            </a:r>
            <a:r>
              <a:rPr lang="tr-TR" dirty="0" smtClean="0"/>
              <a:t> </a:t>
            </a:r>
            <a:r>
              <a:rPr lang="tr-TR" dirty="0" err="1"/>
              <a:t>Sealing</a:t>
            </a:r>
            <a:r>
              <a:rPr lang="tr-TR" dirty="0" smtClean="0"/>
              <a:t>»(Makine Dairesi </a:t>
            </a:r>
            <a:r>
              <a:rPr lang="tr-TR" dirty="0"/>
              <a:t>Yalıtımı) işlemi </a:t>
            </a:r>
            <a:r>
              <a:rPr lang="tr-TR" dirty="0" smtClean="0"/>
              <a:t>jeneratörde oluşabilecek olası arızaları engellediği için </a:t>
            </a:r>
            <a:r>
              <a:rPr lang="tr-TR" dirty="0"/>
              <a:t>dikkat edilmelidir. </a:t>
            </a:r>
            <a:endParaRPr lang="tr-TR" dirty="0" smtClean="0"/>
          </a:p>
          <a:p>
            <a:pPr marL="342900" indent="-342900">
              <a:buFontTx/>
              <a:buAutoNum type="arabicPeriod"/>
            </a:pPr>
            <a:r>
              <a:rPr lang="tr-TR" dirty="0" smtClean="0"/>
              <a:t>Türbin ilk onarımdan sonra veya uzun süre çalışmayacak şekilde kalıp ta daha sonra çalıştırıldığında, önce düşük güçle çalışmaya başlatılmalı ve izlenerek güç artımı bir güne yayılacak şekilde yavaş yavaş yapılmalıdır.</a:t>
            </a:r>
            <a:endParaRPr lang="tr-TR" dirty="0"/>
          </a:p>
          <a:p>
            <a:pPr marL="342900" indent="-342900">
              <a:buAutoNum type="arabicPeriod"/>
            </a:pPr>
            <a:endParaRPr lang="tr-TR" dirty="0" smtClean="0"/>
          </a:p>
        </p:txBody>
      </p:sp>
      <p:graphicFrame>
        <p:nvGraphicFramePr>
          <p:cNvPr id="13" name="Tablo 12"/>
          <p:cNvGraphicFramePr>
            <a:graphicFrameLocks noGrp="1"/>
          </p:cNvGraphicFramePr>
          <p:nvPr>
            <p:extLst>
              <p:ext uri="{D42A27DB-BD31-4B8C-83A1-F6EECF244321}">
                <p14:modId xmlns:p14="http://schemas.microsoft.com/office/powerpoint/2010/main" val="928500964"/>
              </p:ext>
            </p:extLst>
          </p:nvPr>
        </p:nvGraphicFramePr>
        <p:xfrm>
          <a:off x="395536" y="5229200"/>
          <a:ext cx="8064896" cy="1074420"/>
        </p:xfrm>
        <a:graphic>
          <a:graphicData uri="http://schemas.openxmlformats.org/drawingml/2006/table">
            <a:tbl>
              <a:tblPr firstRow="1" firstCol="1" lastRow="1" lastCol="1" bandRow="1" bandCol="1">
                <a:tableStyleId>{5C22544A-7EE6-4342-B048-85BDC9FD1C3A}</a:tableStyleId>
              </a:tblPr>
              <a:tblGrid>
                <a:gridCol w="648072"/>
                <a:gridCol w="7416824"/>
              </a:tblGrid>
              <a:tr h="470342">
                <a:tc rowSpan="2">
                  <a:txBody>
                    <a:bodyPr/>
                    <a:lstStyle/>
                    <a:p>
                      <a:pPr algn="ctr">
                        <a:spcBef>
                          <a:spcPts val="1200"/>
                        </a:spcBef>
                        <a:spcAft>
                          <a:spcPts val="300"/>
                        </a:spcAft>
                      </a:pPr>
                      <a:endParaRPr lang="tr-TR" sz="1200" dirty="0">
                        <a:solidFill>
                          <a:schemeClr val="tx1"/>
                        </a:solidFill>
                        <a:effectLst/>
                        <a:latin typeface="Arial"/>
                        <a:ea typeface="Times New Roman"/>
                        <a:cs typeface="Times New Roman"/>
                      </a:endParaRPr>
                    </a:p>
                  </a:txBody>
                  <a:tcPr marL="17780" marR="17780" marT="0" marB="0">
                    <a:lnL w="12700" cmpd="sng">
                      <a:noFill/>
                    </a:lnL>
                    <a:lnR w="38100" cmpd="sng">
                      <a:noFill/>
                    </a:lnR>
                    <a:lnT w="38100" cmpd="sng">
                      <a:noFill/>
                    </a:lnT>
                    <a:lnB w="38100" cmpd="sng">
                      <a:noFill/>
                    </a:lnB>
                    <a:lnTlToBr w="12700" cmpd="sng">
                      <a:noFill/>
                      <a:prstDash val="solid"/>
                    </a:lnTlToBr>
                    <a:lnBlToTr w="12700" cmpd="sng">
                      <a:noFill/>
                      <a:prstDash val="solid"/>
                    </a:lnBlToTr>
                    <a:solidFill>
                      <a:schemeClr val="bg1">
                        <a:lumMod val="75000"/>
                      </a:schemeClr>
                    </a:solidFill>
                  </a:tcPr>
                </a:tc>
                <a:tc>
                  <a:txBody>
                    <a:bodyPr/>
                    <a:lstStyle/>
                    <a:p>
                      <a:pPr>
                        <a:spcBef>
                          <a:spcPts val="300"/>
                        </a:spcBef>
                        <a:spcAft>
                          <a:spcPts val="0"/>
                        </a:spcAft>
                        <a:tabLst>
                          <a:tab pos="457200" algn="l"/>
                        </a:tabLst>
                      </a:pPr>
                      <a:r>
                        <a:rPr lang="tr-TR" sz="1600" dirty="0" smtClean="0">
                          <a:solidFill>
                            <a:schemeClr val="tx1"/>
                          </a:solidFill>
                          <a:effectLst/>
                        </a:rPr>
                        <a:t>Uyarı!</a:t>
                      </a:r>
                    </a:p>
                    <a:p>
                      <a:pPr>
                        <a:spcBef>
                          <a:spcPts val="300"/>
                        </a:spcBef>
                        <a:spcAft>
                          <a:spcPts val="0"/>
                        </a:spcAft>
                        <a:tabLst>
                          <a:tab pos="457200" algn="l"/>
                        </a:tabLst>
                      </a:pPr>
                      <a:r>
                        <a:rPr lang="tr-TR" sz="1600" b="1" dirty="0" smtClean="0">
                          <a:solidFill>
                            <a:schemeClr val="tx1"/>
                          </a:solidFill>
                          <a:effectLst/>
                          <a:latin typeface="+mn-lt"/>
                          <a:ea typeface="Times New Roman"/>
                          <a:cs typeface="Times New Roman"/>
                        </a:rPr>
                        <a:t>Hayati</a:t>
                      </a:r>
                      <a:r>
                        <a:rPr lang="tr-TR" sz="1600" b="1" baseline="0" dirty="0" smtClean="0">
                          <a:solidFill>
                            <a:schemeClr val="tx1"/>
                          </a:solidFill>
                          <a:effectLst/>
                          <a:latin typeface="+mn-lt"/>
                          <a:ea typeface="Times New Roman"/>
                          <a:cs typeface="Times New Roman"/>
                        </a:rPr>
                        <a:t> tehlike</a:t>
                      </a:r>
                      <a:endParaRPr lang="en-US" sz="1600" b="1" dirty="0">
                        <a:solidFill>
                          <a:schemeClr val="tx1"/>
                        </a:solidFill>
                        <a:effectLst/>
                        <a:latin typeface="+mn-lt"/>
                        <a:ea typeface="Times New Roman"/>
                        <a:cs typeface="Times New Roman"/>
                      </a:endParaRPr>
                    </a:p>
                  </a:txBody>
                  <a:tcPr marL="17780" marR="17780" marT="0" marB="0">
                    <a:lnL w="381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schemeClr>
                    </a:solidFill>
                  </a:tcPr>
                </a:tc>
              </a:tr>
              <a:tr h="482332">
                <a:tc vMerge="1">
                  <a:txBody>
                    <a:bodyPr/>
                    <a:lstStyle/>
                    <a:p>
                      <a:endParaRPr lang="en-US"/>
                    </a:p>
                  </a:txBody>
                  <a:tcPr/>
                </a:tc>
                <a:tc>
                  <a:txBody>
                    <a:bodyPr/>
                    <a:lstStyle/>
                    <a:p>
                      <a:r>
                        <a:rPr lang="tr-TR" b="0" i="1" dirty="0" smtClean="0">
                          <a:solidFill>
                            <a:schemeClr val="tx1"/>
                          </a:solidFill>
                        </a:rPr>
                        <a:t>1000V 1mA</a:t>
                      </a:r>
                      <a:r>
                        <a:rPr lang="tr-TR" b="0" i="1" baseline="0" dirty="0" smtClean="0">
                          <a:solidFill>
                            <a:schemeClr val="tx1"/>
                          </a:solidFill>
                        </a:rPr>
                        <a:t> </a:t>
                      </a:r>
                      <a:r>
                        <a:rPr lang="tr-TR" b="0" i="1" dirty="0" smtClean="0">
                          <a:solidFill>
                            <a:schemeClr val="tx1"/>
                          </a:solidFill>
                        </a:rPr>
                        <a:t>hayati tehlike arz etmektedir!</a:t>
                      </a:r>
                    </a:p>
                    <a:p>
                      <a:r>
                        <a:rPr lang="tr-TR" b="0" i="1" baseline="0" dirty="0" smtClean="0">
                          <a:solidFill>
                            <a:schemeClr val="tx1"/>
                          </a:solidFill>
                        </a:rPr>
                        <a:t>İzolasyonları açılmış kablolar ile yapılan işlemlerde dikkatli olunmalıdır.</a:t>
                      </a:r>
                      <a:endParaRPr lang="tr-TR" b="0" i="1" dirty="0" smtClean="0">
                        <a:solidFill>
                          <a:schemeClr val="tx1"/>
                        </a:solidFill>
                      </a:endParaRPr>
                    </a:p>
                  </a:txBody>
                  <a:tcPr marL="17780" marR="17780" marT="0" marB="0">
                    <a:lnL w="38100" cmpd="sng">
                      <a:noFill/>
                    </a:lnL>
                    <a:lnR w="12700" cmpd="sng">
                      <a:noFill/>
                    </a:lnR>
                    <a:lnT w="38100" cmpd="sng">
                      <a:noFill/>
                    </a:lnT>
                    <a:lnB w="38100" cmpd="sng">
                      <a:noFill/>
                    </a:lnB>
                    <a:lnTlToBr w="12700" cmpd="sng">
                      <a:noFill/>
                      <a:prstDash val="solid"/>
                    </a:lnTlToBr>
                    <a:lnBlToTr w="12700" cmpd="sng">
                      <a:noFill/>
                      <a:prstDash val="solid"/>
                    </a:lnBlToTr>
                    <a:solidFill>
                      <a:schemeClr val="bg1">
                        <a:lumMod val="75000"/>
                      </a:schemeClr>
                    </a:solidFill>
                  </a:tcPr>
                </a:tc>
              </a:tr>
            </a:tbl>
          </a:graphicData>
        </a:graphic>
      </p:graphicFrame>
      <p:pic>
        <p:nvPicPr>
          <p:cNvPr id="14" name="Picture 2"/>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467544" y="5301208"/>
            <a:ext cx="569554" cy="550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ayt Numarası Yer Tutucusu 1"/>
          <p:cNvSpPr>
            <a:spLocks noGrp="1"/>
          </p:cNvSpPr>
          <p:nvPr>
            <p:ph type="sldNum" sz="quarter" idx="10"/>
          </p:nvPr>
        </p:nvSpPr>
        <p:spPr/>
        <p:txBody>
          <a:bodyPr/>
          <a:lstStyle/>
          <a:p>
            <a:fld id="{EE2D904C-8DCD-43D7-A8F3-EC54D0513CE7}" type="slidenum">
              <a:rPr lang="de-DE" smtClean="0"/>
              <a:pPr/>
              <a:t>11</a:t>
            </a:fld>
            <a:endParaRPr lang="de-DE"/>
          </a:p>
        </p:txBody>
      </p:sp>
      <p:sp>
        <p:nvSpPr>
          <p:cNvPr id="15" name="İçerik Yer Tutucusu 2"/>
          <p:cNvSpPr txBox="1">
            <a:spLocks/>
          </p:cNvSpPr>
          <p:nvPr/>
        </p:nvSpPr>
        <p:spPr>
          <a:xfrm>
            <a:off x="-19384" y="6370844"/>
            <a:ext cx="7400888" cy="3512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tr-TR" sz="800" i="1" dirty="0" smtClean="0"/>
              <a:t>Bu doküman bilgi amaçlıdır. Yetkili olmayan kişiler tarafından </a:t>
            </a:r>
            <a:r>
              <a:rPr lang="tr-TR" sz="800" b="1" i="1" dirty="0" smtClean="0"/>
              <a:t>kesinlikle</a:t>
            </a:r>
            <a:r>
              <a:rPr lang="tr-TR" sz="800" i="1" dirty="0" smtClean="0"/>
              <a:t> uygulamaya geçilmemelidir.</a:t>
            </a:r>
          </a:p>
          <a:p>
            <a:pPr marL="0" indent="0">
              <a:buNone/>
            </a:pPr>
            <a:endParaRPr lang="tr-TR" sz="800" i="1" dirty="0"/>
          </a:p>
        </p:txBody>
      </p:sp>
    </p:spTree>
    <p:extLst>
      <p:ext uri="{BB962C8B-B14F-4D97-AF65-F5344CB8AC3E}">
        <p14:creationId xmlns:p14="http://schemas.microsoft.com/office/powerpoint/2010/main" val="13646508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GB" smtClean="0"/>
              <a:t>Imprint</a:t>
            </a:r>
          </a:p>
        </p:txBody>
      </p:sp>
      <p:sp>
        <p:nvSpPr>
          <p:cNvPr id="7171" name="Rectangle 4"/>
          <p:cNvSpPr>
            <a:spLocks noGrp="1" noChangeArrowheads="1"/>
          </p:cNvSpPr>
          <p:nvPr>
            <p:ph type="body" sz="half" idx="1"/>
          </p:nvPr>
        </p:nvSpPr>
        <p:spPr>
          <a:xfrm>
            <a:off x="422031" y="914401"/>
            <a:ext cx="8440615" cy="3237809"/>
          </a:xfrm>
          <a:noFill/>
        </p:spPr>
        <p:txBody>
          <a:bodyPr>
            <a:spAutoFit/>
          </a:bodyPr>
          <a:lstStyle/>
          <a:p>
            <a:pPr marL="0" indent="0" eaLnBrk="1" hangingPunct="1">
              <a:buFontTx/>
              <a:buNone/>
            </a:pPr>
            <a:r>
              <a:rPr lang="en-GB" sz="1400" b="1" smtClean="0"/>
              <a:t>Publisher:</a:t>
            </a:r>
          </a:p>
          <a:p>
            <a:pPr marL="0" indent="0" eaLnBrk="1" hangingPunct="1">
              <a:buFontTx/>
              <a:buNone/>
            </a:pPr>
            <a:r>
              <a:rPr lang="en-GB" sz="1400" smtClean="0"/>
              <a:t>ENERCON </a:t>
            </a:r>
            <a:r>
              <a:rPr lang="tr-TR" sz="1400" smtClean="0"/>
              <a:t>Service LTD.ŞTİ.</a:t>
            </a:r>
            <a:r>
              <a:rPr lang="en-GB" sz="1400" smtClean="0"/>
              <a:t> ▪ </a:t>
            </a:r>
            <a:r>
              <a:rPr lang="tr-TR" sz="1400" smtClean="0"/>
              <a:t>10042 Sokak No:12 İ.A.O.S.B. Çiğli</a:t>
            </a:r>
            <a:r>
              <a:rPr lang="en-GB" sz="1400" smtClean="0"/>
              <a:t> ▪ </a:t>
            </a:r>
            <a:r>
              <a:rPr lang="tr-TR" sz="1400" smtClean="0"/>
              <a:t>35620</a:t>
            </a:r>
            <a:r>
              <a:rPr lang="en-GB" sz="1400" smtClean="0"/>
              <a:t> </a:t>
            </a:r>
            <a:r>
              <a:rPr lang="tr-TR" sz="1400" smtClean="0"/>
              <a:t>İzmir</a:t>
            </a:r>
            <a:r>
              <a:rPr lang="en-GB" sz="1400" smtClean="0"/>
              <a:t> ▪ </a:t>
            </a:r>
            <a:r>
              <a:rPr lang="tr-TR" sz="1400" smtClean="0"/>
              <a:t>Türkiye</a:t>
            </a:r>
            <a:endParaRPr lang="en-GB" sz="1400" smtClean="0"/>
          </a:p>
          <a:p>
            <a:pPr marL="0" indent="0" eaLnBrk="1" hangingPunct="1">
              <a:buFontTx/>
              <a:buNone/>
            </a:pPr>
            <a:r>
              <a:rPr lang="en-GB" sz="1400" smtClean="0"/>
              <a:t>Phone: +</a:t>
            </a:r>
            <a:r>
              <a:rPr lang="tr-TR" sz="1400" smtClean="0"/>
              <a:t>90</a:t>
            </a:r>
            <a:r>
              <a:rPr lang="en-GB" sz="1400" smtClean="0"/>
              <a:t> </a:t>
            </a:r>
            <a:r>
              <a:rPr lang="tr-TR" sz="1400" smtClean="0"/>
              <a:t>232-394-01</a:t>
            </a:r>
            <a:r>
              <a:rPr lang="en-GB" sz="1400" smtClean="0"/>
              <a:t>0</a:t>
            </a:r>
            <a:r>
              <a:rPr lang="tr-TR" sz="1400" smtClean="0"/>
              <a:t>1</a:t>
            </a:r>
            <a:r>
              <a:rPr lang="en-GB" sz="1400" smtClean="0"/>
              <a:t> ▪ Fax: +</a:t>
            </a:r>
            <a:r>
              <a:rPr lang="tr-TR" sz="1400" smtClean="0"/>
              <a:t>90</a:t>
            </a:r>
            <a:r>
              <a:rPr lang="en-GB" sz="1400" smtClean="0"/>
              <a:t> </a:t>
            </a:r>
            <a:r>
              <a:rPr lang="tr-TR" sz="1400" smtClean="0"/>
              <a:t>232-394-01</a:t>
            </a:r>
            <a:r>
              <a:rPr lang="en-GB" sz="1400" smtClean="0"/>
              <a:t>0</a:t>
            </a:r>
            <a:r>
              <a:rPr lang="tr-TR" sz="1400" smtClean="0"/>
              <a:t>6</a:t>
            </a:r>
            <a:r>
              <a:rPr lang="en-GB" sz="1400" smtClean="0"/>
              <a:t> </a:t>
            </a:r>
          </a:p>
          <a:p>
            <a:pPr marL="0" indent="0" eaLnBrk="1" hangingPunct="1">
              <a:buFontTx/>
              <a:buNone/>
            </a:pPr>
            <a:endParaRPr lang="en-GB" sz="1400" b="1" smtClean="0"/>
          </a:p>
          <a:p>
            <a:pPr marL="0" indent="0" eaLnBrk="1" hangingPunct="1">
              <a:buFontTx/>
              <a:buNone/>
            </a:pPr>
            <a:r>
              <a:rPr lang="en-GB" sz="1400" b="1" smtClean="0"/>
              <a:t>Copyright:</a:t>
            </a:r>
          </a:p>
          <a:p>
            <a:pPr marL="0" indent="0" eaLnBrk="1" hangingPunct="1">
              <a:buFontTx/>
              <a:buNone/>
            </a:pPr>
            <a:r>
              <a:rPr lang="en-GB" sz="1400" smtClean="0"/>
              <a:t>© ENERCON GmbH. Any reproduction, distribution and utilisation of this document as well as the communication of its contents to third parties without express authorisation is prohibited. Violators will be held liable for monetary damages. All rights reserved in the event of the grant of a patent, utility model or design.</a:t>
            </a:r>
            <a:endParaRPr lang="en-GB" sz="1400" b="1" smtClean="0"/>
          </a:p>
          <a:p>
            <a:pPr marL="0" indent="0" eaLnBrk="1" hangingPunct="1">
              <a:buFontTx/>
              <a:buNone/>
            </a:pPr>
            <a:endParaRPr lang="en-GB" sz="1400" b="1" smtClean="0"/>
          </a:p>
          <a:p>
            <a:pPr marL="0" indent="0" eaLnBrk="1" hangingPunct="1">
              <a:buFontTx/>
              <a:buNone/>
            </a:pPr>
            <a:r>
              <a:rPr lang="en-GB" sz="1400" b="1" smtClean="0"/>
              <a:t>Content subject to change:</a:t>
            </a:r>
          </a:p>
          <a:p>
            <a:pPr marL="0" indent="0" eaLnBrk="1" hangingPunct="1">
              <a:buFontTx/>
              <a:buNone/>
            </a:pPr>
            <a:r>
              <a:rPr lang="en-GB" sz="1400" smtClean="0"/>
              <a:t>ENERCON GmbH reserves the right to change, improve and expand this document and the subject matter described herein at any time without prior notice.</a:t>
            </a:r>
          </a:p>
        </p:txBody>
      </p:sp>
      <p:graphicFrame>
        <p:nvGraphicFramePr>
          <p:cNvPr id="108549" name="Group 5"/>
          <p:cNvGraphicFramePr>
            <a:graphicFrameLocks noGrp="1"/>
          </p:cNvGraphicFramePr>
          <p:nvPr>
            <p:extLst>
              <p:ext uri="{D42A27DB-BD31-4B8C-83A1-F6EECF244321}">
                <p14:modId xmlns:p14="http://schemas.microsoft.com/office/powerpoint/2010/main" val="1069787788"/>
              </p:ext>
            </p:extLst>
          </p:nvPr>
        </p:nvGraphicFramePr>
        <p:xfrm>
          <a:off x="422031" y="5373689"/>
          <a:ext cx="5144965" cy="1152453"/>
        </p:xfrm>
        <a:graphic>
          <a:graphicData uri="http://schemas.openxmlformats.org/drawingml/2006/table">
            <a:tbl>
              <a:tblPr/>
              <a:tblGrid>
                <a:gridCol w="624254"/>
                <a:gridCol w="1924050"/>
                <a:gridCol w="616926"/>
                <a:gridCol w="1979735"/>
              </a:tblGrid>
              <a:tr h="13335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600" b="1" i="0" u="none" strike="noStrike" cap="none" normalizeH="0" baseline="0" dirty="0" smtClean="0">
                          <a:ln>
                            <a:noFill/>
                          </a:ln>
                          <a:solidFill>
                            <a:schemeClr val="tx1"/>
                          </a:solidFill>
                          <a:effectLst/>
                          <a:latin typeface="Arial" charset="0"/>
                        </a:rPr>
                        <a:t>Original Details</a:t>
                      </a:r>
                    </a:p>
                  </a:txBody>
                  <a:tcPr marL="16615" marR="16615" marT="18000" marB="18000" horzOverflow="overflow">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600" b="1" i="0" u="none" strike="noStrike" cap="none" normalizeH="0" baseline="0" smtClean="0">
                          <a:ln>
                            <a:noFill/>
                          </a:ln>
                          <a:solidFill>
                            <a:schemeClr val="tx1"/>
                          </a:solidFill>
                          <a:effectLst/>
                          <a:latin typeface="Arial" charset="0"/>
                        </a:rPr>
                        <a:t>Translation Details</a:t>
                      </a:r>
                    </a:p>
                  </a:txBody>
                  <a:tcPr marL="16615" marR="16615" marT="18000" marB="18000" horzOverflow="overflow">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r>
              <a:tr h="1333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600" b="1" i="0" u="none" strike="noStrike" cap="none" normalizeH="0" baseline="0" smtClean="0">
                          <a:ln>
                            <a:noFill/>
                          </a:ln>
                          <a:solidFill>
                            <a:schemeClr val="tx1"/>
                          </a:solidFill>
                          <a:effectLst/>
                          <a:latin typeface="Arial" charset="0"/>
                        </a:rPr>
                        <a:t>Compiled/Date:</a:t>
                      </a:r>
                    </a:p>
                  </a:txBody>
                  <a:tcPr marL="16615" marR="16615" marT="18000" marB="18000" horzOverflow="overflow">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tr-TR" sz="600" b="0" i="0" u="none" strike="noStrike" cap="none" normalizeH="0" baseline="0" dirty="0" smtClean="0">
                          <a:ln>
                            <a:noFill/>
                          </a:ln>
                          <a:solidFill>
                            <a:schemeClr val="tx1"/>
                          </a:solidFill>
                          <a:effectLst/>
                          <a:latin typeface="Arial" charset="0"/>
                        </a:rPr>
                        <a:t>Umut ÖZGÖR/ 2011-09-15</a:t>
                      </a:r>
                      <a:endParaRPr kumimoji="0" lang="en-GB" sz="600" b="0" i="0" u="none" strike="noStrike" cap="none" normalizeH="0" baseline="0" dirty="0" smtClean="0">
                        <a:ln>
                          <a:noFill/>
                        </a:ln>
                        <a:solidFill>
                          <a:schemeClr val="tx1"/>
                        </a:solidFill>
                        <a:effectLst/>
                        <a:latin typeface="Arial" charset="0"/>
                      </a:endParaRPr>
                    </a:p>
                  </a:txBody>
                  <a:tcPr marL="16615" marR="16615" marT="18000" marB="18000"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600" b="1" i="0" u="none" strike="noStrike" cap="none" normalizeH="0" baseline="0" smtClean="0">
                          <a:ln>
                            <a:noFill/>
                          </a:ln>
                          <a:solidFill>
                            <a:schemeClr val="tx1"/>
                          </a:solidFill>
                          <a:effectLst/>
                          <a:latin typeface="Arial" charset="0"/>
                        </a:rPr>
                        <a:t>Translated/Date:</a:t>
                      </a:r>
                    </a:p>
                  </a:txBody>
                  <a:tcPr marL="16615" marR="16615" marT="18000" marB="18000"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GB" sz="600" b="0" i="0" u="none" strike="noStrike" cap="none" normalizeH="0" baseline="0" smtClean="0">
                        <a:ln>
                          <a:noFill/>
                        </a:ln>
                        <a:solidFill>
                          <a:schemeClr val="tx1"/>
                        </a:solidFill>
                        <a:effectLst/>
                        <a:latin typeface="Arial" charset="0"/>
                      </a:endParaRPr>
                    </a:p>
                  </a:txBody>
                  <a:tcPr marL="16615" marR="16615" marT="18000" marB="18000" horzOverflow="overflow">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1333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600" b="1" i="0" u="none" strike="noStrike" cap="none" normalizeH="0" baseline="0" smtClean="0">
                          <a:ln>
                            <a:noFill/>
                          </a:ln>
                          <a:solidFill>
                            <a:schemeClr val="tx1"/>
                          </a:solidFill>
                          <a:effectLst/>
                          <a:latin typeface="Arial" charset="0"/>
                        </a:rPr>
                        <a:t>Checked/Date:</a:t>
                      </a:r>
                    </a:p>
                  </a:txBody>
                  <a:tcPr marL="16615" marR="16615" marT="18000" marB="18000" horzOverflow="overflow">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tr-TR" sz="600" b="0" i="0" u="none" strike="noStrike" cap="none" normalizeH="0" baseline="0" dirty="0" smtClean="0">
                          <a:ln>
                            <a:noFill/>
                          </a:ln>
                          <a:solidFill>
                            <a:schemeClr val="tx1"/>
                          </a:solidFill>
                          <a:effectLst/>
                          <a:latin typeface="Arial" charset="0"/>
                        </a:rPr>
                        <a:t>Ayda Çelik Dik / 2011-09-26</a:t>
                      </a:r>
                      <a:endParaRPr kumimoji="0" lang="en-GB" sz="600" b="0" i="0" u="none" strike="noStrike" cap="none" normalizeH="0" baseline="0" dirty="0" smtClean="0">
                        <a:ln>
                          <a:noFill/>
                        </a:ln>
                        <a:solidFill>
                          <a:schemeClr val="tx1"/>
                        </a:solidFill>
                        <a:effectLst/>
                        <a:latin typeface="Arial" charset="0"/>
                      </a:endParaRPr>
                    </a:p>
                  </a:txBody>
                  <a:tcPr marL="16615" marR="16615" marT="18000" marB="18000"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600" b="1" i="0" u="none" strike="noStrike" cap="none" normalizeH="0" baseline="0" smtClean="0">
                          <a:ln>
                            <a:noFill/>
                          </a:ln>
                          <a:solidFill>
                            <a:schemeClr val="tx1"/>
                          </a:solidFill>
                          <a:effectLst/>
                          <a:latin typeface="Arial" charset="0"/>
                        </a:rPr>
                        <a:t>Checked/Date:</a:t>
                      </a:r>
                    </a:p>
                  </a:txBody>
                  <a:tcPr marL="16615" marR="16615" marT="18000" marB="18000"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GB" sz="600" b="0" i="0" u="none" strike="noStrike" cap="none" normalizeH="0" baseline="0" smtClean="0">
                        <a:ln>
                          <a:noFill/>
                        </a:ln>
                        <a:solidFill>
                          <a:schemeClr val="tx1"/>
                        </a:solidFill>
                        <a:effectLst/>
                        <a:latin typeface="Arial" charset="0"/>
                      </a:endParaRPr>
                    </a:p>
                  </a:txBody>
                  <a:tcPr marL="16615" marR="16615" marT="18000" marB="18000" horzOverflow="overflow">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1317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600" b="1" i="0" u="none" strike="noStrike" cap="none" normalizeH="0" baseline="0" smtClean="0">
                          <a:ln>
                            <a:noFill/>
                          </a:ln>
                          <a:solidFill>
                            <a:schemeClr val="tx1"/>
                          </a:solidFill>
                          <a:effectLst/>
                          <a:latin typeface="Arial" charset="0"/>
                        </a:rPr>
                        <a:t>Approved/Date:</a:t>
                      </a:r>
                    </a:p>
                  </a:txBody>
                  <a:tcPr marL="16615" marR="16615" marT="18000" marB="18000" horzOverflow="overflow">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tr-TR" sz="600" b="0" i="0" u="none" strike="noStrike" cap="none" normalizeH="0" baseline="0" dirty="0" smtClean="0">
                          <a:ln>
                            <a:noFill/>
                          </a:ln>
                          <a:solidFill>
                            <a:schemeClr val="tx1"/>
                          </a:solidFill>
                          <a:effectLst/>
                          <a:latin typeface="Arial" charset="0"/>
                        </a:rPr>
                        <a:t>Sarper Basak / 2011-09-26</a:t>
                      </a:r>
                      <a:endParaRPr kumimoji="0" lang="en-GB" sz="600" b="0" i="0" u="none" strike="noStrike" cap="none" normalizeH="0" baseline="0" dirty="0" smtClean="0">
                        <a:ln>
                          <a:noFill/>
                        </a:ln>
                        <a:solidFill>
                          <a:schemeClr val="tx1"/>
                        </a:solidFill>
                        <a:effectLst/>
                        <a:latin typeface="Arial" charset="0"/>
                      </a:endParaRPr>
                    </a:p>
                  </a:txBody>
                  <a:tcPr marL="16615" marR="16615" marT="18000" marB="18000"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600" b="1" i="0" u="none" strike="noStrike" cap="none" normalizeH="0" baseline="0" smtClean="0">
                          <a:ln>
                            <a:noFill/>
                          </a:ln>
                          <a:solidFill>
                            <a:schemeClr val="tx1"/>
                          </a:solidFill>
                          <a:effectLst/>
                          <a:latin typeface="Arial" charset="0"/>
                        </a:rPr>
                        <a:t>Approved/Date:</a:t>
                      </a:r>
                    </a:p>
                  </a:txBody>
                  <a:tcPr marL="16615" marR="16615" marT="18000" marB="18000"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GB" sz="600" b="0" i="0" u="none" strike="noStrike" cap="none" normalizeH="0" baseline="0" smtClean="0">
                        <a:ln>
                          <a:noFill/>
                        </a:ln>
                        <a:solidFill>
                          <a:schemeClr val="tx1"/>
                        </a:solidFill>
                        <a:effectLst/>
                        <a:latin typeface="Arial" charset="0"/>
                      </a:endParaRPr>
                    </a:p>
                  </a:txBody>
                  <a:tcPr marL="16615" marR="16615" marT="18000" marB="18000" horzOverflow="overflow">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1333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600" b="1" i="0" u="none" strike="noStrike" cap="none" normalizeH="0" baseline="0" smtClean="0">
                          <a:ln>
                            <a:noFill/>
                          </a:ln>
                          <a:solidFill>
                            <a:schemeClr val="tx1"/>
                          </a:solidFill>
                          <a:effectLst/>
                          <a:latin typeface="Arial" charset="0"/>
                        </a:rPr>
                        <a:t>Revision:</a:t>
                      </a:r>
                    </a:p>
                  </a:txBody>
                  <a:tcPr marL="16615" marR="16615" marT="18000" marB="18000" horzOverflow="overflow">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GB" sz="600" b="0" i="0" u="none" strike="noStrike" cap="none" normalizeH="0" baseline="0" smtClean="0">
                        <a:ln>
                          <a:noFill/>
                        </a:ln>
                        <a:solidFill>
                          <a:schemeClr val="tx1"/>
                        </a:solidFill>
                        <a:effectLst/>
                        <a:latin typeface="Arial" charset="0"/>
                      </a:endParaRPr>
                    </a:p>
                  </a:txBody>
                  <a:tcPr marL="16615" marR="16615" marT="18000" marB="18000"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600" b="1" i="0" u="none" strike="noStrike" cap="none" normalizeH="0" baseline="0" smtClean="0">
                          <a:ln>
                            <a:noFill/>
                          </a:ln>
                          <a:solidFill>
                            <a:schemeClr val="tx1"/>
                          </a:solidFill>
                          <a:effectLst/>
                          <a:latin typeface="Arial" charset="0"/>
                        </a:rPr>
                        <a:t>Revision:</a:t>
                      </a:r>
                    </a:p>
                  </a:txBody>
                  <a:tcPr marL="16615" marR="16615" marT="18000" marB="18000"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GB" sz="600" b="0" i="0" u="none" strike="noStrike" cap="none" normalizeH="0" baseline="0" smtClean="0">
                        <a:ln>
                          <a:noFill/>
                        </a:ln>
                        <a:solidFill>
                          <a:schemeClr val="tx1"/>
                        </a:solidFill>
                        <a:effectLst/>
                        <a:latin typeface="Arial" charset="0"/>
                      </a:endParaRPr>
                    </a:p>
                  </a:txBody>
                  <a:tcPr marL="16615" marR="16615" marT="18000" marB="18000" horzOverflow="overflow">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1333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600" b="1" i="0" u="none" strike="noStrike" cap="none" normalizeH="0" baseline="0" smtClean="0">
                          <a:ln>
                            <a:noFill/>
                          </a:ln>
                          <a:solidFill>
                            <a:schemeClr val="tx1"/>
                          </a:solidFill>
                          <a:effectLst/>
                          <a:latin typeface="Arial" charset="0"/>
                        </a:rPr>
                        <a:t>File name:</a:t>
                      </a:r>
                    </a:p>
                  </a:txBody>
                  <a:tcPr marL="16615" marR="16615" marT="18000" marB="18000" horzOverflow="overflow">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tr-TR" sz="800" dirty="0" smtClean="0"/>
                        <a:t>METRISO</a:t>
                      </a:r>
                      <a:r>
                        <a:rPr lang="tr-TR" sz="800" baseline="0" dirty="0" smtClean="0"/>
                        <a:t> 1000D Ölçüm Cihazını Jeneratör Toprak Kaçağı Arızasında Kullanma Talimatı</a:t>
                      </a:r>
                      <a:r>
                        <a:rPr lang="tr-TR" sz="800" dirty="0" smtClean="0"/>
                        <a:t> </a:t>
                      </a:r>
                      <a:endParaRPr kumimoji="0" lang="en-GB" sz="600" b="1" i="0" u="none" strike="noStrike" cap="none" normalizeH="0" baseline="0" dirty="0" smtClean="0">
                        <a:ln>
                          <a:noFill/>
                        </a:ln>
                        <a:solidFill>
                          <a:schemeClr val="tx1"/>
                        </a:solidFill>
                        <a:effectLst/>
                        <a:latin typeface="Arial" charset="0"/>
                      </a:endParaRPr>
                    </a:p>
                  </a:txBody>
                  <a:tcPr marL="16615" marR="16615" marT="18000" marB="18000"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600" b="1" i="0" u="none" strike="noStrike" cap="none" normalizeH="0" baseline="0" smtClean="0">
                          <a:ln>
                            <a:noFill/>
                          </a:ln>
                          <a:solidFill>
                            <a:schemeClr val="tx1"/>
                          </a:solidFill>
                          <a:effectLst/>
                          <a:latin typeface="Arial" charset="0"/>
                        </a:rPr>
                        <a:t>Template details:</a:t>
                      </a:r>
                    </a:p>
                  </a:txBody>
                  <a:tcPr marL="16615" marR="16615" marT="18000" marB="18000"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600" b="0" i="0" u="none" strike="noStrike" cap="none" normalizeH="0" baseline="0" dirty="0" smtClean="0">
                          <a:ln>
                            <a:noFill/>
                          </a:ln>
                          <a:solidFill>
                            <a:schemeClr val="tx1"/>
                          </a:solidFill>
                          <a:effectLst/>
                          <a:latin typeface="Arial" charset="0"/>
                        </a:rPr>
                        <a:t>MK-PowerPoint template landscape-Rev000eng-eng.pot</a:t>
                      </a:r>
                      <a:endParaRPr kumimoji="0" lang="en-GB" sz="600" b="1" i="0" u="none" strike="noStrike" cap="none" normalizeH="0" baseline="0" dirty="0" smtClean="0">
                        <a:ln>
                          <a:noFill/>
                        </a:ln>
                        <a:solidFill>
                          <a:schemeClr val="tx1"/>
                        </a:solidFill>
                        <a:effectLst/>
                        <a:latin typeface="Arial" charset="0"/>
                      </a:endParaRPr>
                    </a:p>
                  </a:txBody>
                  <a:tcPr marL="16615" marR="16615" marT="18000" marB="18000" horzOverflow="overflow">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 name="Slayt Numarası Yer Tutucusu 2"/>
          <p:cNvSpPr>
            <a:spLocks noGrp="1"/>
          </p:cNvSpPr>
          <p:nvPr>
            <p:ph type="sldNum" sz="quarter" idx="10"/>
          </p:nvPr>
        </p:nvSpPr>
        <p:spPr/>
        <p:txBody>
          <a:bodyPr/>
          <a:lstStyle/>
          <a:p>
            <a:fld id="{E357E547-A1EA-4E03-940C-A71AB0DBF836}" type="slidenum">
              <a:rPr lang="de-DE" smtClean="0"/>
              <a:pPr/>
              <a:t>12</a:t>
            </a:fld>
            <a:endParaRPr lang="de-DE"/>
          </a:p>
        </p:txBody>
      </p:sp>
    </p:spTree>
    <p:extLst>
      <p:ext uri="{BB962C8B-B14F-4D97-AF65-F5344CB8AC3E}">
        <p14:creationId xmlns:p14="http://schemas.microsoft.com/office/powerpoint/2010/main" val="3633224473"/>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MK_ppt-template_landscape">
  <a:themeElements>
    <a:clrScheme name="Ofis Teması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Teması">
      <a:majorFont>
        <a:latin typeface="Arial"/>
        <a:ea typeface=""/>
        <a:cs typeface=""/>
      </a:majorFont>
      <a:minorFont>
        <a:latin typeface="Arial"/>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is Teması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is Teması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is Teması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is Teması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is Teması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is Teması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is Teması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is Teması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is Teması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is Teması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is Teması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is Teması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MK_ppt-template_landscape">
  <a:themeElements>
    <a:clrScheme name="Ofis Teması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Teması">
      <a:majorFont>
        <a:latin typeface="Arial"/>
        <a:ea typeface=""/>
        <a:cs typeface=""/>
      </a:majorFont>
      <a:minorFont>
        <a:latin typeface="Arial"/>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is Teması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is Teması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is Teması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is Teması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is Teması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is Teması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is Teması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is Teması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is Teması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is Teması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is Teması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is Teması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855</Words>
  <Application>Microsoft Office PowerPoint</Application>
  <PresentationFormat>On-screen Show (4:3)</PresentationFormat>
  <Paragraphs>148</Paragraphs>
  <Slides>12</Slides>
  <Notes>3</Notes>
  <HiddenSlides>1</HiddenSlides>
  <MMClips>0</MMClip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MK_ppt-template_landscape</vt:lpstr>
      <vt:lpstr>1_MK_ppt-template_landscape</vt:lpstr>
      <vt:lpstr>METRISO 1000D ÖLÇÜM CİHAZINI  JENERATÖR TOPRAK KAÇAĞI ARIZASINDA KULLANMA TALİMATI  </vt:lpstr>
      <vt:lpstr>PowerPoint Presentation</vt:lpstr>
      <vt:lpstr>METRISO 1000D ÖLÇÜM CİHAZINI  JENERATÖR TOPRAK KAÇAĞI ARIZASINDA KULLANMA TALİMATI </vt:lpstr>
      <vt:lpstr>METRISO 1000D ÖLÇÜM CİHAZINI  JENERATÖR TOPRAK KAÇAĞI ARIZASINDA KULLANMA TALİMATI</vt:lpstr>
      <vt:lpstr>METRISO 1000D ÖLÇÜM CİHAZINI  JENERATÖR TOPRAK KAÇAĞI ARIZASINDA KULLANMA TALİMATI</vt:lpstr>
      <vt:lpstr>METRISO 1000D ÖLÇÜM CİHAZINI  JENERATÖR TOPRAK KAÇAĞI ARIZASINDA KULLANMA TALİMATI</vt:lpstr>
      <vt:lpstr>METRISO 1000D ÖLÇÜM CİHAZINI  JENERATÖR TOPRAK KAÇAĞI ARIZASINDA KULLANMA TALİMATI</vt:lpstr>
      <vt:lpstr>METRISO 1000D ÖLÇÜM CİHAZINI  JENERATÖR TOPRAK KAÇAĞI ARIZASINDA KULLANMA TALİMATI</vt:lpstr>
      <vt:lpstr>METRISO 1000D ÖLÇÜM CİHAZINI  JENERATÖR TOPRAK KAÇAĞI ARIZASINDA KULLANMA TALİMATI</vt:lpstr>
      <vt:lpstr>METRISO 1000D ÖLÇÜM CİHAZINI  JENERATÖR TOPRAK KAÇAĞI ARIZASINDA KULLANMA TALİMATI</vt:lpstr>
      <vt:lpstr>METRISO 1000D ÖLÇÜM CİHAZINI  JENERATÖR TOPRAK KAÇAĞI ARIZASINDA KULLANMA TALİMATI</vt:lpstr>
      <vt:lpstr>Imprint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Gossen Metrewatt cihazı kullanımı</dc:title>
  <dc:creator>UMUT NİHAN</dc:creator>
  <cp:lastModifiedBy>Egemen Girgin</cp:lastModifiedBy>
  <cp:revision>165</cp:revision>
  <cp:lastPrinted>2011-06-28T13:53:45Z</cp:lastPrinted>
  <dcterms:created xsi:type="dcterms:W3CDTF">2011-05-31T18:23:11Z</dcterms:created>
  <dcterms:modified xsi:type="dcterms:W3CDTF">2011-09-30T07:08:22Z</dcterms:modified>
</cp:coreProperties>
</file>